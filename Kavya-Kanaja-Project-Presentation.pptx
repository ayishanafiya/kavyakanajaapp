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68" r:id="rId3"/>
    <p:sldId id="257" r:id="rId4"/>
    <p:sldId id="258" r:id="rId5"/>
    <p:sldId id="259" r:id="rId6"/>
    <p:sldId id="260" r:id="rId7"/>
    <p:sldId id="261" r:id="rId8"/>
    <p:sldId id="262" r:id="rId9"/>
    <p:sldId id="263" r:id="rId10"/>
    <p:sldId id="264" r:id="rId11"/>
    <p:sldId id="265" r:id="rId12"/>
    <p:sldId id="269" r:id="rId13"/>
    <p:sldId id="267" r:id="rId1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p:scale>
          <a:sx n="75" d="100"/>
          <a:sy n="75" d="100"/>
        </p:scale>
        <p:origin x="94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47E65-F0D3-02D7-C90A-2E6D48E6DA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10AC5-52CA-B758-331E-904F98E73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3D5A7-74A0-D7C9-8732-DC72A9390556}"/>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9925F84C-74D3-5516-EA2B-38695D4F942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59527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632ED-0B48-83DB-C271-17A867A90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44550-33CC-A6D3-D1E8-8EE70EB790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6075D9-0748-5719-2D87-44EE7D81398B}"/>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11A4925A-F0F3-5988-490F-44909BE959D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48445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CAC71A6-9189-4CCB-8D3F-3725EC55E89D}"/>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txBody>
          <a:bodyPr/>
          <a:lstStyle/>
          <a:p>
            <a:endParaRPr lang="en-IN" dirty="0"/>
          </a:p>
        </p:txBody>
      </p:sp>
      <p:sp>
        <p:nvSpPr>
          <p:cNvPr id="2" name="Rectangle 1">
            <a:extLst>
              <a:ext uri="{FF2B5EF4-FFF2-40B4-BE49-F238E27FC236}">
                <a16:creationId xmlns:a16="http://schemas.microsoft.com/office/drawing/2014/main" id="{F3D02104-3E4C-4F57-8344-B111EEFFDA6E}"/>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C8690073-CB4A-4D04-888B-44F7DA2EE35D}"/>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5" name="Rectangle 4">
            <a:extLst>
              <a:ext uri="{FF2B5EF4-FFF2-40B4-BE49-F238E27FC236}">
                <a16:creationId xmlns:a16="http://schemas.microsoft.com/office/drawing/2014/main" id="{ECF7E3D7-DAA7-490F-833F-B5BD774EF386}"/>
              </a:ext>
            </a:extLst>
          </p:cNvPr>
          <p:cNvSpPr>
            <a:spLocks noGrp="1"/>
          </p:cNvSpPr>
          <p:nvPr/>
        </p:nvSpPr>
        <p:spPr>
          <a:xfrm>
            <a:off x="9230106" y="1379220"/>
            <a:ext cx="1208532" cy="46482"/>
          </a:xfrm>
          <a:prstGeom prst="rect">
            <a:avLst/>
          </a:prstGeom>
          <a:solidFill>
            <a:srgbClr val="8F3E2F"/>
          </a:solidFill>
          <a:ln w="0">
            <a:solidFill>
              <a:srgbClr val="000000">
                <a:alpha val="0"/>
              </a:srgbClr>
            </a:solidFill>
            <a:prstDash val="solid"/>
          </a:ln>
        </p:spPr>
      </p:sp>
      <p:sp>
        <p:nvSpPr>
          <p:cNvPr id="6" name="Rectangle 5">
            <a:extLst>
              <a:ext uri="{FF2B5EF4-FFF2-40B4-BE49-F238E27FC236}">
                <a16:creationId xmlns:a16="http://schemas.microsoft.com/office/drawing/2014/main" id="{31A11AEA-7309-4087-B241-E882FA083811}"/>
              </a:ext>
            </a:extLst>
          </p:cNvPr>
          <p:cNvSpPr>
            <a:spLocks noGrp="1"/>
          </p:cNvSpPr>
          <p:nvPr/>
        </p:nvSpPr>
        <p:spPr>
          <a:xfrm>
            <a:off x="9230106" y="1751076"/>
            <a:ext cx="1208532" cy="46482"/>
          </a:xfrm>
          <a:prstGeom prst="rect">
            <a:avLst/>
          </a:prstGeom>
          <a:solidFill>
            <a:srgbClr val="8F3E2F"/>
          </a:solidFill>
          <a:ln w="0">
            <a:solidFill>
              <a:srgbClr val="000000">
                <a:alpha val="0"/>
              </a:srgbClr>
            </a:solidFill>
            <a:prstDash val="solid"/>
          </a:ln>
        </p:spPr>
      </p:sp>
      <p:sp>
        <p:nvSpPr>
          <p:cNvPr id="7" name="Rectangle 6">
            <a:extLst>
              <a:ext uri="{FF2B5EF4-FFF2-40B4-BE49-F238E27FC236}">
                <a16:creationId xmlns:a16="http://schemas.microsoft.com/office/drawing/2014/main" id="{F86487F7-CACA-4C7B-9082-430F2501B2E4}"/>
              </a:ext>
            </a:extLst>
          </p:cNvPr>
          <p:cNvSpPr>
            <a:spLocks noGrp="1"/>
          </p:cNvSpPr>
          <p:nvPr/>
        </p:nvSpPr>
        <p:spPr>
          <a:xfrm>
            <a:off x="9230106" y="2122932"/>
            <a:ext cx="836676" cy="46482"/>
          </a:xfrm>
          <a:prstGeom prst="rect">
            <a:avLst/>
          </a:prstGeom>
          <a:solidFill>
            <a:srgbClr val="8F3E2F"/>
          </a:solidFill>
          <a:ln w="0">
            <a:solidFill>
              <a:srgbClr val="000000">
                <a:alpha val="0"/>
              </a:srgbClr>
            </a:solidFill>
            <a:prstDash val="solid"/>
          </a:ln>
        </p:spPr>
      </p:sp>
      <p:sp>
        <p:nvSpPr>
          <p:cNvPr id="8" name="Rectangle 7">
            <a:extLst>
              <a:ext uri="{FF2B5EF4-FFF2-40B4-BE49-F238E27FC236}">
                <a16:creationId xmlns:a16="http://schemas.microsoft.com/office/drawing/2014/main" id="{C5F8A084-5E8C-41CA-B75C-F9EDF2A3A874}"/>
              </a:ext>
            </a:extLst>
          </p:cNvPr>
          <p:cNvSpPr>
            <a:spLocks noGrp="1"/>
          </p:cNvSpPr>
          <p:nvPr/>
        </p:nvSpPr>
        <p:spPr>
          <a:xfrm>
            <a:off x="9834372" y="1123569"/>
            <a:ext cx="34862" cy="2138172"/>
          </a:xfrm>
          <a:prstGeom prst="rect">
            <a:avLst/>
          </a:prstGeom>
          <a:solidFill>
            <a:srgbClr val="F3E6CF"/>
          </a:solidFill>
          <a:ln w="0">
            <a:solidFill>
              <a:srgbClr val="000000">
                <a:alpha val="0"/>
              </a:srgbClr>
            </a:solidFill>
            <a:prstDash val="solid"/>
          </a:ln>
        </p:spPr>
      </p:sp>
      <p:sp>
        <p:nvSpPr>
          <p:cNvPr id="9" name="Rectangle 8">
            <a:extLst>
              <a:ext uri="{FF2B5EF4-FFF2-40B4-BE49-F238E27FC236}">
                <a16:creationId xmlns:a16="http://schemas.microsoft.com/office/drawing/2014/main" id="{D26BF6F8-1F17-4F11-B1B9-E1AB9168D215}"/>
              </a:ext>
            </a:extLst>
          </p:cNvPr>
          <p:cNvSpPr>
            <a:spLocks noGrp="1"/>
          </p:cNvSpPr>
          <p:nvPr/>
        </p:nvSpPr>
        <p:spPr>
          <a:xfrm>
            <a:off x="2236224" y="285911"/>
            <a:ext cx="8831826"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8F3E2F"/>
                </a:solidFill>
                <a:latin typeface="Nirmala UI"/>
                <a:ea typeface="Nirmala UI"/>
                <a:cs typeface="Nirmala UI"/>
              </a:defRPr>
            </a:pPr>
            <a:r>
              <a:rPr lang="en-IN" sz="3150" b="1" dirty="0">
                <a:solidFill>
                  <a:srgbClr val="8F3E2F"/>
                </a:solidFill>
                <a:latin typeface="Nirmala UI"/>
                <a:ea typeface="Nirmala UI"/>
                <a:cs typeface="Nirmala UI"/>
              </a:rPr>
              <a:t>SRINIVAS INSTITUTE OF TECHNOLOGY</a:t>
            </a:r>
            <a:endParaRPr sz="3150" b="1" dirty="0">
              <a:solidFill>
                <a:srgbClr val="8F3E2F"/>
              </a:solidFill>
              <a:latin typeface="Nirmala UI"/>
              <a:ea typeface="Nirmala UI"/>
              <a:cs typeface="Nirmala UI"/>
            </a:endParaRPr>
          </a:p>
        </p:txBody>
      </p:sp>
      <p:sp>
        <p:nvSpPr>
          <p:cNvPr id="10" name="Rectangle 9">
            <a:extLst>
              <a:ext uri="{FF2B5EF4-FFF2-40B4-BE49-F238E27FC236}">
                <a16:creationId xmlns:a16="http://schemas.microsoft.com/office/drawing/2014/main" id="{F6BD5108-CDA5-4301-851B-BFE4FDB6738C}"/>
              </a:ext>
            </a:extLst>
          </p:cNvPr>
          <p:cNvSpPr>
            <a:spLocks noGrp="1"/>
          </p:cNvSpPr>
          <p:nvPr/>
        </p:nvSpPr>
        <p:spPr>
          <a:xfrm>
            <a:off x="1310225" y="837058"/>
            <a:ext cx="86762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r>
              <a:rPr lang="en-US" altLang="en-US" sz="2000" b="1" u="sng" dirty="0">
                <a:latin typeface="Times New Roman" panose="02020603050405020304" pitchFamily="18" charset="0"/>
                <a:cs typeface="Times New Roman" panose="02020603050405020304" pitchFamily="18" charset="0"/>
                <a:sym typeface="Times New Roman" panose="02020603050405020304" pitchFamily="18" charset="0"/>
              </a:rPr>
              <a:t>Internship Review Presentation-2</a:t>
            </a:r>
          </a:p>
          <a:p>
            <a:pPr algn="ct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“Android App Development using Generative AI”</a:t>
            </a:r>
          </a:p>
          <a:p>
            <a:pPr algn="ctr"/>
            <a:endParaRPr lang="en-US" altLang="en-US" sz="2000" b="1" u="sng"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1" name="Rectangle 10">
            <a:extLst>
              <a:ext uri="{FF2B5EF4-FFF2-40B4-BE49-F238E27FC236}">
                <a16:creationId xmlns:a16="http://schemas.microsoft.com/office/drawing/2014/main" id="{05FC3F18-F9AC-4838-89DE-6150B668F050}"/>
              </a:ext>
            </a:extLst>
          </p:cNvPr>
          <p:cNvSpPr>
            <a:spLocks noGrp="1"/>
          </p:cNvSpPr>
          <p:nvPr/>
        </p:nvSpPr>
        <p:spPr>
          <a:xfrm rot="10800000" flipV="1">
            <a:off x="704850" y="2447901"/>
            <a:ext cx="7239000" cy="3114699"/>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rPr>
              <a:t>Name: </a:t>
            </a:r>
            <a:r>
              <a:rPr kumimoji="0" lang="en-US" altLang="en-US" sz="2000" b="1" i="0" u="none" strike="noStrike" kern="1200" cap="none" spc="0" normalizeH="0" baseline="0" noProof="0" dirty="0" err="1">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rPr>
              <a:t>Ayishath</a:t>
            </a:r>
            <a:r>
              <a:rPr kumimoji="0" lang="en-US" altLang="en-US" sz="2000" b="1" i="0" u="none" strike="noStrike" kern="1200" cap="none" spc="0" normalizeH="0" baseline="0" noProof="0" dirty="0">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rPr>
              <a:t> Nafiya B</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rPr>
              <a:t>USN:  4SN22AI015</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rPr>
              <a:t>Department : AIML</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rPr>
              <a:t>Role: Android App Development Intern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rPr>
              <a:t>Organization: </a:t>
            </a:r>
            <a:r>
              <a:rPr kumimoji="0" lang="en-US" altLang="en-US" sz="2000" b="1" i="0" u="none" strike="noStrike" kern="1200" cap="none" spc="0" normalizeH="0" baseline="0" noProof="0" dirty="0" err="1">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rPr>
              <a:t>MindMatrix</a:t>
            </a:r>
            <a:endParaRPr kumimoji="0" lang="en-US" altLang="en-US" sz="2000" b="1" i="0" u="none" strike="noStrike" kern="1200" cap="none" spc="0" normalizeH="0" baseline="0" noProof="0" dirty="0">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rPr>
              <a:t>Duration: 15 weeks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chemeClr val="accent3"/>
                </a:solidFill>
                <a:effectLst/>
                <a:uLnTx/>
                <a:uFillTx/>
                <a:latin typeface="Aptos" panose="020B0004020202020204" pitchFamily="34" charset="0"/>
                <a:cs typeface="Times New Roman" panose="02020603050405020304" pitchFamily="18" charset="0"/>
                <a:sym typeface="Times New Roman" panose="02020603050405020304" pitchFamily="18" charset="0"/>
              </a:rPr>
              <a:t>Guide  Name : Prof Madhusudhan</a:t>
            </a:r>
          </a:p>
          <a:p>
            <a:pPr algn="l">
              <a:lnSpc>
                <a:spcPct val="150000"/>
              </a:lnSpc>
              <a:defRPr sz="1575" b="1">
                <a:solidFill>
                  <a:srgbClr val="336B57"/>
                </a:solidFill>
                <a:latin typeface="Aptos"/>
                <a:ea typeface="Aptos"/>
                <a:cs typeface="Aptos"/>
              </a:defRPr>
            </a:pPr>
            <a:endParaRPr sz="1575" b="1" dirty="0">
              <a:solidFill>
                <a:schemeClr val="accent3"/>
              </a:solidFill>
              <a:latin typeface="Aptos" panose="020B0004020202020204" pitchFamily="34" charset="0"/>
              <a:ea typeface="Aptos"/>
              <a:cs typeface="Aptos"/>
            </a:endParaRPr>
          </a:p>
        </p:txBody>
      </p:sp>
      <p:sp>
        <p:nvSpPr>
          <p:cNvPr id="22" name="Rectangle 21">
            <a:extLst>
              <a:ext uri="{FF2B5EF4-FFF2-40B4-BE49-F238E27FC236}">
                <a16:creationId xmlns:a16="http://schemas.microsoft.com/office/drawing/2014/main" id="{461E6742-6C36-47A4-B961-259D34E75A61}"/>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23" name="Rectangle 22">
            <a:extLst>
              <a:ext uri="{FF2B5EF4-FFF2-40B4-BE49-F238E27FC236}">
                <a16:creationId xmlns:a16="http://schemas.microsoft.com/office/drawing/2014/main" id="{676FA9C8-C81F-475B-84B3-0AEAD6849E99}"/>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01</a:t>
            </a:r>
          </a:p>
        </p:txBody>
      </p:sp>
      <p:sp>
        <p:nvSpPr>
          <p:cNvPr id="24" name="Rectangle 23">
            <a:extLst>
              <a:ext uri="{FF2B5EF4-FFF2-40B4-BE49-F238E27FC236}">
                <a16:creationId xmlns:a16="http://schemas.microsoft.com/office/drawing/2014/main" id="{68AFB0D3-A9A7-486B-BCEF-AFA1BEF0EC76}"/>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spTree>
    <p:extLst>
      <p:ext uri="{BB962C8B-B14F-4D97-AF65-F5344CB8AC3E}">
        <p14:creationId xmlns:p14="http://schemas.microsoft.com/office/powerpoint/2010/main" val="71944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9EF17-E7C5-B6B4-B272-5AF959DDDC2A}"/>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9DECCB6B-527A-2B24-52C6-5CC2D743AD0F}"/>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0D085A32-9387-3287-41CB-E6CCBC86B625}"/>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D14245A9-9395-6772-C344-9F478D1D850E}"/>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5" name="Rectangle 4">
            <a:extLst>
              <a:ext uri="{FF2B5EF4-FFF2-40B4-BE49-F238E27FC236}">
                <a16:creationId xmlns:a16="http://schemas.microsoft.com/office/drawing/2014/main" id="{78FEF808-A2EC-2A6F-DE42-DDE12EEBA2DF}"/>
              </a:ext>
            </a:extLst>
          </p:cNvPr>
          <p:cNvSpPr>
            <a:spLocks noGrp="1"/>
          </p:cNvSpPr>
          <p:nvPr/>
        </p:nvSpPr>
        <p:spPr>
          <a:xfrm>
            <a:off x="9230106" y="1379220"/>
            <a:ext cx="1208532" cy="46482"/>
          </a:xfrm>
          <a:prstGeom prst="rect">
            <a:avLst/>
          </a:prstGeom>
          <a:solidFill>
            <a:srgbClr val="8F3E2F"/>
          </a:solidFill>
          <a:ln w="0">
            <a:solidFill>
              <a:srgbClr val="000000">
                <a:alpha val="0"/>
              </a:srgbClr>
            </a:solidFill>
            <a:prstDash val="solid"/>
          </a:ln>
        </p:spPr>
      </p:sp>
      <p:sp>
        <p:nvSpPr>
          <p:cNvPr id="6" name="Rectangle 5">
            <a:extLst>
              <a:ext uri="{FF2B5EF4-FFF2-40B4-BE49-F238E27FC236}">
                <a16:creationId xmlns:a16="http://schemas.microsoft.com/office/drawing/2014/main" id="{70D5F277-B4DC-DE9C-50C0-8395F98FAEF3}"/>
              </a:ext>
            </a:extLst>
          </p:cNvPr>
          <p:cNvSpPr>
            <a:spLocks noGrp="1"/>
          </p:cNvSpPr>
          <p:nvPr/>
        </p:nvSpPr>
        <p:spPr>
          <a:xfrm>
            <a:off x="9230106" y="1751076"/>
            <a:ext cx="1208532" cy="46482"/>
          </a:xfrm>
          <a:prstGeom prst="rect">
            <a:avLst/>
          </a:prstGeom>
          <a:solidFill>
            <a:srgbClr val="8F3E2F"/>
          </a:solidFill>
          <a:ln w="0">
            <a:solidFill>
              <a:srgbClr val="000000">
                <a:alpha val="0"/>
              </a:srgbClr>
            </a:solidFill>
            <a:prstDash val="solid"/>
          </a:ln>
        </p:spPr>
      </p:sp>
      <p:sp>
        <p:nvSpPr>
          <p:cNvPr id="7" name="Rectangle 6">
            <a:extLst>
              <a:ext uri="{FF2B5EF4-FFF2-40B4-BE49-F238E27FC236}">
                <a16:creationId xmlns:a16="http://schemas.microsoft.com/office/drawing/2014/main" id="{FE92A6C2-647F-4AC4-469F-0AC30F1A7943}"/>
              </a:ext>
            </a:extLst>
          </p:cNvPr>
          <p:cNvSpPr>
            <a:spLocks noGrp="1"/>
          </p:cNvSpPr>
          <p:nvPr/>
        </p:nvSpPr>
        <p:spPr>
          <a:xfrm>
            <a:off x="9230106" y="2122932"/>
            <a:ext cx="836676" cy="46482"/>
          </a:xfrm>
          <a:prstGeom prst="rect">
            <a:avLst/>
          </a:prstGeom>
          <a:solidFill>
            <a:srgbClr val="8F3E2F"/>
          </a:solidFill>
          <a:ln w="0">
            <a:solidFill>
              <a:srgbClr val="000000">
                <a:alpha val="0"/>
              </a:srgbClr>
            </a:solidFill>
            <a:prstDash val="solid"/>
          </a:ln>
        </p:spPr>
      </p:sp>
      <p:sp>
        <p:nvSpPr>
          <p:cNvPr id="8" name="Rectangle 7">
            <a:extLst>
              <a:ext uri="{FF2B5EF4-FFF2-40B4-BE49-F238E27FC236}">
                <a16:creationId xmlns:a16="http://schemas.microsoft.com/office/drawing/2014/main" id="{43B2997A-8311-2A31-420A-96CE71C1770B}"/>
              </a:ext>
            </a:extLst>
          </p:cNvPr>
          <p:cNvSpPr>
            <a:spLocks noGrp="1"/>
          </p:cNvSpPr>
          <p:nvPr/>
        </p:nvSpPr>
        <p:spPr>
          <a:xfrm>
            <a:off x="9834372" y="1123569"/>
            <a:ext cx="34862" cy="2138172"/>
          </a:xfrm>
          <a:prstGeom prst="rect">
            <a:avLst/>
          </a:prstGeom>
          <a:solidFill>
            <a:srgbClr val="F3E6CF"/>
          </a:solidFill>
          <a:ln w="0">
            <a:solidFill>
              <a:srgbClr val="000000">
                <a:alpha val="0"/>
              </a:srgbClr>
            </a:solidFill>
            <a:prstDash val="solid"/>
          </a:ln>
        </p:spPr>
      </p:sp>
      <p:sp>
        <p:nvSpPr>
          <p:cNvPr id="9" name="Rectangle 8">
            <a:extLst>
              <a:ext uri="{FF2B5EF4-FFF2-40B4-BE49-F238E27FC236}">
                <a16:creationId xmlns:a16="http://schemas.microsoft.com/office/drawing/2014/main" id="{0E119620-0AAB-FD5E-BCD2-3E35F614172E}"/>
              </a:ext>
            </a:extLst>
          </p:cNvPr>
          <p:cNvSpPr>
            <a:spLocks noGrp="1"/>
          </p:cNvSpPr>
          <p:nvPr/>
        </p:nvSpPr>
        <p:spPr>
          <a:xfrm>
            <a:off x="685800" y="666750"/>
            <a:ext cx="5905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8F3E2F"/>
                </a:solidFill>
                <a:latin typeface="Nirmala UI"/>
                <a:ea typeface="Nirmala UI"/>
                <a:cs typeface="Nirmala UI"/>
              </a:defRPr>
            </a:pPr>
            <a:r>
              <a:rPr sz="3150" b="1">
                <a:solidFill>
                  <a:srgbClr val="8F3E2F"/>
                </a:solidFill>
                <a:latin typeface="Nirmala UI"/>
                <a:ea typeface="Nirmala UI"/>
                <a:cs typeface="Nirmala UI"/>
              </a:rPr>
              <a:t>ಕಾವ್ಯ ಕಣಜ</a:t>
            </a:r>
          </a:p>
        </p:txBody>
      </p:sp>
      <p:sp>
        <p:nvSpPr>
          <p:cNvPr id="10" name="Rectangle 9">
            <a:extLst>
              <a:ext uri="{FF2B5EF4-FFF2-40B4-BE49-F238E27FC236}">
                <a16:creationId xmlns:a16="http://schemas.microsoft.com/office/drawing/2014/main" id="{7751F705-1C69-2441-F965-F42F5C26D9E6}"/>
              </a:ext>
            </a:extLst>
          </p:cNvPr>
          <p:cNvSpPr>
            <a:spLocks noGrp="1"/>
          </p:cNvSpPr>
          <p:nvPr/>
        </p:nvSpPr>
        <p:spPr>
          <a:xfrm>
            <a:off x="704850" y="1295400"/>
            <a:ext cx="581025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750" b="1">
                <a:solidFill>
                  <a:srgbClr val="2D211A"/>
                </a:solidFill>
                <a:latin typeface="Aptos Display"/>
                <a:ea typeface="Aptos Display"/>
                <a:cs typeface="Aptos Display"/>
              </a:defRPr>
            </a:pPr>
            <a:r>
              <a:rPr sz="3750" b="1">
                <a:solidFill>
                  <a:srgbClr val="2D211A"/>
                </a:solidFill>
                <a:latin typeface="Aptos Display"/>
                <a:ea typeface="Aptos Display"/>
                <a:cs typeface="Aptos Display"/>
              </a:rPr>
              <a:t>Kavya-Kanaja</a:t>
            </a:r>
          </a:p>
        </p:txBody>
      </p:sp>
      <p:sp>
        <p:nvSpPr>
          <p:cNvPr id="11" name="Rectangle 10">
            <a:extLst>
              <a:ext uri="{FF2B5EF4-FFF2-40B4-BE49-F238E27FC236}">
                <a16:creationId xmlns:a16="http://schemas.microsoft.com/office/drawing/2014/main" id="{DA7CFAE4-FC2E-59C5-39C9-E56E313D9BFE}"/>
              </a:ext>
            </a:extLst>
          </p:cNvPr>
          <p:cNvSpPr>
            <a:spLocks noGrp="1"/>
          </p:cNvSpPr>
          <p:nvPr/>
        </p:nvSpPr>
        <p:spPr>
          <a:xfrm>
            <a:off x="742950" y="2076450"/>
            <a:ext cx="6953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336B57"/>
                </a:solidFill>
                <a:latin typeface="Aptos"/>
                <a:ea typeface="Aptos"/>
                <a:cs typeface="Aptos"/>
              </a:defRPr>
            </a:pPr>
            <a:r>
              <a:rPr sz="1575" b="1">
                <a:solidFill>
                  <a:srgbClr val="336B57"/>
                </a:solidFill>
                <a:latin typeface="Aptos"/>
                <a:ea typeface="Aptos"/>
                <a:cs typeface="Aptos"/>
              </a:rPr>
              <a:t>A Literary Revival Android App for Kannada Poetry</a:t>
            </a:r>
          </a:p>
        </p:txBody>
      </p:sp>
      <p:sp>
        <p:nvSpPr>
          <p:cNvPr id="12" name="Rectangle 11">
            <a:extLst>
              <a:ext uri="{FF2B5EF4-FFF2-40B4-BE49-F238E27FC236}">
                <a16:creationId xmlns:a16="http://schemas.microsoft.com/office/drawing/2014/main" id="{5FF12BD5-2099-90DC-F10C-915550882115}"/>
              </a:ext>
            </a:extLst>
          </p:cNvPr>
          <p:cNvSpPr>
            <a:spLocks noGrp="1"/>
          </p:cNvSpPr>
          <p:nvPr/>
        </p:nvSpPr>
        <p:spPr>
          <a:xfrm>
            <a:off x="742950" y="2514600"/>
            <a:ext cx="6572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6B5C4E"/>
                </a:solidFill>
                <a:latin typeface="Aptos"/>
                <a:ea typeface="Aptos"/>
                <a:cs typeface="Aptos"/>
              </a:defRPr>
            </a:pPr>
            <a:r>
              <a:rPr sz="1200" b="0">
                <a:solidFill>
                  <a:srgbClr val="6B5C4E"/>
                </a:solidFill>
                <a:latin typeface="Aptos"/>
                <a:ea typeface="Aptos"/>
                <a:cs typeface="Aptos"/>
              </a:rPr>
              <a:t>Project Title 76 | Android App Development using GenAI</a:t>
            </a:r>
          </a:p>
        </p:txBody>
      </p:sp>
      <p:sp>
        <p:nvSpPr>
          <p:cNvPr id="22" name="Rectangle 21">
            <a:extLst>
              <a:ext uri="{FF2B5EF4-FFF2-40B4-BE49-F238E27FC236}">
                <a16:creationId xmlns:a16="http://schemas.microsoft.com/office/drawing/2014/main" id="{BB02B0D7-BA25-3C02-3429-4E02D163ACC0}"/>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23" name="Rectangle 22">
            <a:extLst>
              <a:ext uri="{FF2B5EF4-FFF2-40B4-BE49-F238E27FC236}">
                <a16:creationId xmlns:a16="http://schemas.microsoft.com/office/drawing/2014/main" id="{BC97B599-1BCD-DB21-7400-3BC007D300E6}"/>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01</a:t>
            </a:r>
          </a:p>
        </p:txBody>
      </p:sp>
      <p:sp>
        <p:nvSpPr>
          <p:cNvPr id="24" name="Rectangle 23">
            <a:extLst>
              <a:ext uri="{FF2B5EF4-FFF2-40B4-BE49-F238E27FC236}">
                <a16:creationId xmlns:a16="http://schemas.microsoft.com/office/drawing/2014/main" id="{EC639EA1-6D16-502B-E139-35E03803FA81}"/>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sp>
        <p:nvSpPr>
          <p:cNvPr id="29" name="TextBox 28">
            <a:extLst>
              <a:ext uri="{FF2B5EF4-FFF2-40B4-BE49-F238E27FC236}">
                <a16:creationId xmlns:a16="http://schemas.microsoft.com/office/drawing/2014/main" id="{33EB1820-7791-B13B-5381-93ED1833410A}"/>
              </a:ext>
            </a:extLst>
          </p:cNvPr>
          <p:cNvSpPr txBox="1"/>
          <p:nvPr/>
        </p:nvSpPr>
        <p:spPr>
          <a:xfrm>
            <a:off x="742950" y="3299841"/>
            <a:ext cx="10436860" cy="2542363"/>
          </a:xfrm>
          <a:prstGeom prst="rect">
            <a:avLst/>
          </a:prstGeom>
          <a:noFill/>
        </p:spPr>
        <p:txBody>
          <a:bodyPr wrap="square" rtlCol="0">
            <a:spAutoFit/>
          </a:bodyPr>
          <a:lstStyle/>
          <a:p>
            <a:pPr algn="just">
              <a:lnSpc>
                <a:spcPct val="150000"/>
              </a:lnSpc>
            </a:pPr>
            <a:r>
              <a:rPr lang="en-IN" dirty="0"/>
              <a:t>“Kavya-Kanaja” is a Kannada literary revival Android app that helps youth understand and enjoy classical Kannada poetry in a modern way. The app provides a daily poem, audio recitations, simple word meanings, and poem explanations. Users can tap difficult words to learn meanings instantly and explore famous Kannada poets through the “Poet’s Corner.” Built using Jetpack Compose, </a:t>
            </a:r>
            <a:r>
              <a:rPr lang="en-IN" dirty="0" err="1"/>
              <a:t>MediaPlayer</a:t>
            </a:r>
            <a:r>
              <a:rPr lang="en-IN" dirty="0"/>
              <a:t>, and local JSON storage, the app aims to preserve Kannada culture and make literature engaging for Gen-Z students.</a:t>
            </a:r>
          </a:p>
          <a:p>
            <a:pPr algn="just">
              <a:lnSpc>
                <a:spcPct val="150000"/>
              </a:lnSpc>
            </a:pPr>
            <a:endParaRPr lang="en-IN" dirty="0"/>
          </a:p>
        </p:txBody>
      </p:sp>
    </p:spTree>
    <p:extLst>
      <p:ext uri="{BB962C8B-B14F-4D97-AF65-F5344CB8AC3E}">
        <p14:creationId xmlns:p14="http://schemas.microsoft.com/office/powerpoint/2010/main" val="3636429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AA9C5BA-BE55-4006-892C-EA43A2ACF21F}"/>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B94E6F2F-05FA-4985-99A7-6D03E2F590A4}"/>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687266E4-3D6A-4D64-A8F0-27298F571C73}"/>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4" name="kicker-marker">
            <a:extLst>
              <a:ext uri="{FF2B5EF4-FFF2-40B4-BE49-F238E27FC236}">
                <a16:creationId xmlns:a16="http://schemas.microsoft.com/office/drawing/2014/main" id="{1D897E89-B796-4E4F-9C51-232C2C3A9FBB}"/>
              </a:ext>
            </a:extLst>
          </p:cNvPr>
          <p:cNvSpPr>
            <a:spLocks noGrp="1"/>
          </p:cNvSpPr>
          <p:nvPr/>
        </p:nvSpPr>
        <p:spPr>
          <a:xfrm>
            <a:off x="609600" y="547688"/>
            <a:ext cx="285750" cy="28575"/>
          </a:xfrm>
          <a:prstGeom prst="rect">
            <a:avLst/>
          </a:prstGeom>
          <a:solidFill>
            <a:srgbClr val="D5A14B"/>
          </a:solidFill>
          <a:ln w="0">
            <a:solidFill>
              <a:srgbClr val="000000">
                <a:alpha val="0"/>
              </a:srgbClr>
            </a:solidFill>
            <a:prstDash val="solid"/>
          </a:ln>
        </p:spPr>
      </p:sp>
      <p:sp>
        <p:nvSpPr>
          <p:cNvPr id="5" name="kicker-label">
            <a:extLst>
              <a:ext uri="{FF2B5EF4-FFF2-40B4-BE49-F238E27FC236}">
                <a16:creationId xmlns:a16="http://schemas.microsoft.com/office/drawing/2014/main" id="{7A3EB6D5-60C0-4678-981B-088CE0A7F266}"/>
              </a:ext>
            </a:extLst>
          </p:cNvPr>
          <p:cNvSpPr>
            <a:spLocks noGrp="1"/>
          </p:cNvSpPr>
          <p:nvPr/>
        </p:nvSpPr>
        <p:spPr>
          <a:xfrm>
            <a:off x="1009650" y="4572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8F3E2F"/>
                </a:solidFill>
                <a:latin typeface="Aptos"/>
                <a:ea typeface="Aptos"/>
                <a:cs typeface="Aptos"/>
              </a:defRPr>
            </a:pPr>
            <a:r>
              <a:rPr sz="900" b="1">
                <a:solidFill>
                  <a:srgbClr val="8F3E2F"/>
                </a:solidFill>
                <a:latin typeface="Aptos"/>
                <a:ea typeface="Aptos"/>
                <a:cs typeface="Aptos"/>
              </a:rPr>
              <a:t>PROBLEM</a:t>
            </a:r>
          </a:p>
        </p:txBody>
      </p:sp>
      <p:sp>
        <p:nvSpPr>
          <p:cNvPr id="6" name="Rectangle 5">
            <a:extLst>
              <a:ext uri="{FF2B5EF4-FFF2-40B4-BE49-F238E27FC236}">
                <a16:creationId xmlns:a16="http://schemas.microsoft.com/office/drawing/2014/main" id="{4050C36D-129C-4AF8-BAA2-C02709070F69}"/>
              </a:ext>
            </a:extLst>
          </p:cNvPr>
          <p:cNvSpPr>
            <a:spLocks noGrp="1"/>
          </p:cNvSpPr>
          <p:nvPr/>
        </p:nvSpPr>
        <p:spPr>
          <a:xfrm>
            <a:off x="609600" y="723900"/>
            <a:ext cx="7810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2D211A"/>
                </a:solidFill>
                <a:latin typeface="Aptos Display"/>
                <a:ea typeface="Aptos Display"/>
                <a:cs typeface="Aptos Display"/>
              </a:defRPr>
            </a:pPr>
            <a:r>
              <a:rPr sz="2550" b="1">
                <a:solidFill>
                  <a:srgbClr val="2D211A"/>
                </a:solidFill>
                <a:latin typeface="Aptos Display"/>
                <a:ea typeface="Aptos Display"/>
                <a:cs typeface="Aptos Display"/>
              </a:rPr>
              <a:t>Kannada literary pride is fading because access feels difficult.</a:t>
            </a:r>
          </a:p>
        </p:txBody>
      </p:sp>
      <p:sp>
        <p:nvSpPr>
          <p:cNvPr id="7" name="Rectangle 6">
            <a:extLst>
              <a:ext uri="{FF2B5EF4-FFF2-40B4-BE49-F238E27FC236}">
                <a16:creationId xmlns:a16="http://schemas.microsoft.com/office/drawing/2014/main" id="{C5BE443F-67BD-4686-9F38-A423200FCD66}"/>
              </a:ext>
            </a:extLst>
          </p:cNvPr>
          <p:cNvSpPr>
            <a:spLocks noGrp="1"/>
          </p:cNvSpPr>
          <p:nvPr/>
        </p:nvSpPr>
        <p:spPr>
          <a:xfrm>
            <a:off x="628650" y="1695450"/>
            <a:ext cx="7048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6B5C4E"/>
                </a:solidFill>
                <a:latin typeface="Aptos"/>
                <a:ea typeface="Aptos"/>
                <a:cs typeface="Aptos"/>
              </a:defRPr>
            </a:pPr>
            <a:r>
              <a:rPr sz="1200" b="0">
                <a:solidFill>
                  <a:srgbClr val="6B5C4E"/>
                </a:solidFill>
                <a:latin typeface="Aptos"/>
                <a:ea typeface="Aptos"/>
                <a:cs typeface="Aptos"/>
              </a:rPr>
              <a:t>Young learners often see classical poetry as hard to read, hard to hear, and hard to understand.</a:t>
            </a:r>
          </a:p>
        </p:txBody>
      </p:sp>
      <p:sp>
        <p:nvSpPr>
          <p:cNvPr id="8" name="Rectangle 7">
            <a:extLst>
              <a:ext uri="{FF2B5EF4-FFF2-40B4-BE49-F238E27FC236}">
                <a16:creationId xmlns:a16="http://schemas.microsoft.com/office/drawing/2014/main" id="{0B7BD819-EDF3-49B9-B1FA-A99926D989EC}"/>
              </a:ext>
            </a:extLst>
          </p:cNvPr>
          <p:cNvSpPr>
            <a:spLocks noGrp="1"/>
          </p:cNvSpPr>
          <p:nvPr/>
        </p:nvSpPr>
        <p:spPr>
          <a:xfrm>
            <a:off x="952500" y="2476500"/>
            <a:ext cx="38100" cy="514350"/>
          </a:xfrm>
          <a:prstGeom prst="rect">
            <a:avLst/>
          </a:prstGeom>
          <a:solidFill>
            <a:srgbClr val="8F3E2F"/>
          </a:solidFill>
          <a:ln w="0">
            <a:solidFill>
              <a:srgbClr val="000000">
                <a:alpha val="0"/>
              </a:srgbClr>
            </a:solidFill>
            <a:prstDash val="solid"/>
          </a:ln>
        </p:spPr>
      </p:sp>
      <p:sp>
        <p:nvSpPr>
          <p:cNvPr id="9" name="Rectangle 8">
            <a:extLst>
              <a:ext uri="{FF2B5EF4-FFF2-40B4-BE49-F238E27FC236}">
                <a16:creationId xmlns:a16="http://schemas.microsoft.com/office/drawing/2014/main" id="{3FCC1655-DCEB-4B4F-8E56-B256AE74AF34}"/>
              </a:ext>
            </a:extLst>
          </p:cNvPr>
          <p:cNvSpPr>
            <a:spLocks noGrp="1"/>
          </p:cNvSpPr>
          <p:nvPr/>
        </p:nvSpPr>
        <p:spPr>
          <a:xfrm>
            <a:off x="1181100" y="2381250"/>
            <a:ext cx="2381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D211A"/>
                </a:solidFill>
                <a:latin typeface="Aptos"/>
                <a:ea typeface="Aptos"/>
                <a:cs typeface="Aptos"/>
              </a:defRPr>
            </a:pPr>
            <a:r>
              <a:rPr sz="1500" b="1">
                <a:solidFill>
                  <a:srgbClr val="2D211A"/>
                </a:solidFill>
                <a:latin typeface="Aptos"/>
                <a:ea typeface="Aptos"/>
                <a:cs typeface="Aptos"/>
              </a:rPr>
              <a:t>Old Kannada gap</a:t>
            </a:r>
          </a:p>
        </p:txBody>
      </p:sp>
      <p:sp>
        <p:nvSpPr>
          <p:cNvPr id="10" name="Rectangle 9">
            <a:extLst>
              <a:ext uri="{FF2B5EF4-FFF2-40B4-BE49-F238E27FC236}">
                <a16:creationId xmlns:a16="http://schemas.microsoft.com/office/drawing/2014/main" id="{997BCA37-D4C0-4E29-AD78-6709CE432A37}"/>
              </a:ext>
            </a:extLst>
          </p:cNvPr>
          <p:cNvSpPr>
            <a:spLocks noGrp="1"/>
          </p:cNvSpPr>
          <p:nvPr/>
        </p:nvSpPr>
        <p:spPr>
          <a:xfrm>
            <a:off x="1181100" y="2676525"/>
            <a:ext cx="542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5C4E"/>
                </a:solidFill>
                <a:latin typeface="Aptos"/>
                <a:ea typeface="Aptos"/>
                <a:cs typeface="Aptos"/>
              </a:defRPr>
            </a:pPr>
            <a:r>
              <a:rPr sz="1125" b="0">
                <a:solidFill>
                  <a:srgbClr val="6B5C4E"/>
                </a:solidFill>
                <a:latin typeface="Aptos"/>
                <a:ea typeface="Aptos"/>
                <a:cs typeface="Aptos"/>
              </a:rPr>
              <a:t>Difficult words stop students before they reach the meaning.</a:t>
            </a:r>
          </a:p>
        </p:txBody>
      </p:sp>
      <p:sp>
        <p:nvSpPr>
          <p:cNvPr id="11" name="Rectangle 10">
            <a:extLst>
              <a:ext uri="{FF2B5EF4-FFF2-40B4-BE49-F238E27FC236}">
                <a16:creationId xmlns:a16="http://schemas.microsoft.com/office/drawing/2014/main" id="{044D23F2-13C7-4DF4-9ACF-32C19B55D835}"/>
              </a:ext>
            </a:extLst>
          </p:cNvPr>
          <p:cNvSpPr>
            <a:spLocks noGrp="1"/>
          </p:cNvSpPr>
          <p:nvPr/>
        </p:nvSpPr>
        <p:spPr>
          <a:xfrm>
            <a:off x="952500" y="3257550"/>
            <a:ext cx="38100" cy="514350"/>
          </a:xfrm>
          <a:prstGeom prst="rect">
            <a:avLst/>
          </a:prstGeom>
          <a:solidFill>
            <a:srgbClr val="336B57"/>
          </a:solidFill>
          <a:ln w="0">
            <a:solidFill>
              <a:srgbClr val="000000">
                <a:alpha val="0"/>
              </a:srgbClr>
            </a:solidFill>
            <a:prstDash val="solid"/>
          </a:ln>
        </p:spPr>
      </p:sp>
      <p:sp>
        <p:nvSpPr>
          <p:cNvPr id="12" name="Rectangle 11">
            <a:extLst>
              <a:ext uri="{FF2B5EF4-FFF2-40B4-BE49-F238E27FC236}">
                <a16:creationId xmlns:a16="http://schemas.microsoft.com/office/drawing/2014/main" id="{DD7A03E5-FF50-4638-B45E-A2EB250CEFF9}"/>
              </a:ext>
            </a:extLst>
          </p:cNvPr>
          <p:cNvSpPr>
            <a:spLocks noGrp="1"/>
          </p:cNvSpPr>
          <p:nvPr/>
        </p:nvSpPr>
        <p:spPr>
          <a:xfrm>
            <a:off x="1181100" y="3162300"/>
            <a:ext cx="2381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D211A"/>
                </a:solidFill>
                <a:latin typeface="Aptos"/>
                <a:ea typeface="Aptos"/>
                <a:cs typeface="Aptos"/>
              </a:defRPr>
            </a:pPr>
            <a:r>
              <a:rPr sz="1500" b="1">
                <a:solidFill>
                  <a:srgbClr val="2D211A"/>
                </a:solidFill>
                <a:latin typeface="Aptos"/>
                <a:ea typeface="Aptos"/>
                <a:cs typeface="Aptos"/>
              </a:rPr>
              <a:t>Low daily exposure</a:t>
            </a:r>
          </a:p>
        </p:txBody>
      </p:sp>
      <p:sp>
        <p:nvSpPr>
          <p:cNvPr id="13" name="Rectangle 12">
            <a:extLst>
              <a:ext uri="{FF2B5EF4-FFF2-40B4-BE49-F238E27FC236}">
                <a16:creationId xmlns:a16="http://schemas.microsoft.com/office/drawing/2014/main" id="{4AB09020-1195-478E-83A2-53B1547679B3}"/>
              </a:ext>
            </a:extLst>
          </p:cNvPr>
          <p:cNvSpPr>
            <a:spLocks noGrp="1"/>
          </p:cNvSpPr>
          <p:nvPr/>
        </p:nvSpPr>
        <p:spPr>
          <a:xfrm>
            <a:off x="1181100" y="3457575"/>
            <a:ext cx="542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5C4E"/>
                </a:solidFill>
                <a:latin typeface="Aptos"/>
                <a:ea typeface="Aptos"/>
                <a:cs typeface="Aptos"/>
              </a:defRPr>
            </a:pPr>
            <a:r>
              <a:rPr sz="1125" b="0">
                <a:solidFill>
                  <a:srgbClr val="6B5C4E"/>
                </a:solidFill>
                <a:latin typeface="Aptos"/>
                <a:ea typeface="Aptos"/>
                <a:cs typeface="Aptos"/>
              </a:rPr>
              <a:t>Poetry is usually encountered only during exams or textbooks.</a:t>
            </a:r>
          </a:p>
        </p:txBody>
      </p:sp>
      <p:sp>
        <p:nvSpPr>
          <p:cNvPr id="14" name="Rectangle 13">
            <a:extLst>
              <a:ext uri="{FF2B5EF4-FFF2-40B4-BE49-F238E27FC236}">
                <a16:creationId xmlns:a16="http://schemas.microsoft.com/office/drawing/2014/main" id="{3DE4CB73-234F-4D31-98BF-A5B115304B38}"/>
              </a:ext>
            </a:extLst>
          </p:cNvPr>
          <p:cNvSpPr>
            <a:spLocks noGrp="1"/>
          </p:cNvSpPr>
          <p:nvPr/>
        </p:nvSpPr>
        <p:spPr>
          <a:xfrm>
            <a:off x="952500" y="4038600"/>
            <a:ext cx="38100" cy="514350"/>
          </a:xfrm>
          <a:prstGeom prst="rect">
            <a:avLst/>
          </a:prstGeom>
          <a:solidFill>
            <a:srgbClr val="3D6C8F"/>
          </a:solidFill>
          <a:ln w="0">
            <a:solidFill>
              <a:srgbClr val="000000">
                <a:alpha val="0"/>
              </a:srgbClr>
            </a:solidFill>
            <a:prstDash val="solid"/>
          </a:ln>
        </p:spPr>
      </p:sp>
      <p:sp>
        <p:nvSpPr>
          <p:cNvPr id="15" name="Rectangle 14">
            <a:extLst>
              <a:ext uri="{FF2B5EF4-FFF2-40B4-BE49-F238E27FC236}">
                <a16:creationId xmlns:a16="http://schemas.microsoft.com/office/drawing/2014/main" id="{1697FCBC-6ECD-4761-AFE4-9175C1A4C616}"/>
              </a:ext>
            </a:extLst>
          </p:cNvPr>
          <p:cNvSpPr>
            <a:spLocks noGrp="1"/>
          </p:cNvSpPr>
          <p:nvPr/>
        </p:nvSpPr>
        <p:spPr>
          <a:xfrm>
            <a:off x="1181100" y="3943350"/>
            <a:ext cx="2381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D211A"/>
                </a:solidFill>
                <a:latin typeface="Aptos"/>
                <a:ea typeface="Aptos"/>
                <a:cs typeface="Aptos"/>
              </a:defRPr>
            </a:pPr>
            <a:r>
              <a:rPr sz="1500" b="1">
                <a:solidFill>
                  <a:srgbClr val="2D211A"/>
                </a:solidFill>
                <a:latin typeface="Aptos"/>
                <a:ea typeface="Aptos"/>
                <a:cs typeface="Aptos"/>
              </a:rPr>
              <a:t>Audio absence</a:t>
            </a:r>
          </a:p>
        </p:txBody>
      </p:sp>
      <p:sp>
        <p:nvSpPr>
          <p:cNvPr id="16" name="Rectangle 15">
            <a:extLst>
              <a:ext uri="{FF2B5EF4-FFF2-40B4-BE49-F238E27FC236}">
                <a16:creationId xmlns:a16="http://schemas.microsoft.com/office/drawing/2014/main" id="{8DEA7D64-7811-43BE-8D0D-DE09FFCF4CB9}"/>
              </a:ext>
            </a:extLst>
          </p:cNvPr>
          <p:cNvSpPr>
            <a:spLocks noGrp="1"/>
          </p:cNvSpPr>
          <p:nvPr/>
        </p:nvSpPr>
        <p:spPr>
          <a:xfrm>
            <a:off x="1181100" y="4238625"/>
            <a:ext cx="542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5C4E"/>
                </a:solidFill>
                <a:latin typeface="Aptos"/>
                <a:ea typeface="Aptos"/>
                <a:cs typeface="Aptos"/>
              </a:defRPr>
            </a:pPr>
            <a:r>
              <a:rPr sz="1125" b="0">
                <a:solidFill>
                  <a:srgbClr val="6B5C4E"/>
                </a:solidFill>
                <a:latin typeface="Aptos"/>
                <a:ea typeface="Aptos"/>
                <a:cs typeface="Aptos"/>
              </a:rPr>
              <a:t>Students rarely hear rhythm, emotion, and pronunciation together.</a:t>
            </a:r>
          </a:p>
        </p:txBody>
      </p:sp>
      <p:sp>
        <p:nvSpPr>
          <p:cNvPr id="17" name="Rectangle 16">
            <a:extLst>
              <a:ext uri="{FF2B5EF4-FFF2-40B4-BE49-F238E27FC236}">
                <a16:creationId xmlns:a16="http://schemas.microsoft.com/office/drawing/2014/main" id="{B14379E5-8ABC-444F-A31F-2D2C79B2CD55}"/>
              </a:ext>
            </a:extLst>
          </p:cNvPr>
          <p:cNvSpPr>
            <a:spLocks noGrp="1"/>
          </p:cNvSpPr>
          <p:nvPr/>
        </p:nvSpPr>
        <p:spPr>
          <a:xfrm>
            <a:off x="952500" y="4819650"/>
            <a:ext cx="38100" cy="514350"/>
          </a:xfrm>
          <a:prstGeom prst="rect">
            <a:avLst/>
          </a:prstGeom>
          <a:solidFill>
            <a:srgbClr val="D5A14B"/>
          </a:solidFill>
          <a:ln w="0">
            <a:solidFill>
              <a:srgbClr val="000000">
                <a:alpha val="0"/>
              </a:srgbClr>
            </a:solidFill>
            <a:prstDash val="solid"/>
          </a:ln>
        </p:spPr>
      </p:sp>
      <p:sp>
        <p:nvSpPr>
          <p:cNvPr id="18" name="Rectangle 17">
            <a:extLst>
              <a:ext uri="{FF2B5EF4-FFF2-40B4-BE49-F238E27FC236}">
                <a16:creationId xmlns:a16="http://schemas.microsoft.com/office/drawing/2014/main" id="{5D8B6799-1580-4AB3-B89C-075C520C7DE8}"/>
              </a:ext>
            </a:extLst>
          </p:cNvPr>
          <p:cNvSpPr>
            <a:spLocks noGrp="1"/>
          </p:cNvSpPr>
          <p:nvPr/>
        </p:nvSpPr>
        <p:spPr>
          <a:xfrm>
            <a:off x="1181100" y="4724400"/>
            <a:ext cx="2381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D211A"/>
                </a:solidFill>
                <a:latin typeface="Aptos"/>
                <a:ea typeface="Aptos"/>
                <a:cs typeface="Aptos"/>
              </a:defRPr>
            </a:pPr>
            <a:r>
              <a:rPr sz="1500" b="1">
                <a:solidFill>
                  <a:srgbClr val="2D211A"/>
                </a:solidFill>
                <a:latin typeface="Aptos"/>
                <a:ea typeface="Aptos"/>
                <a:cs typeface="Aptos"/>
              </a:rPr>
              <a:t>Context missing</a:t>
            </a:r>
          </a:p>
        </p:txBody>
      </p:sp>
      <p:sp>
        <p:nvSpPr>
          <p:cNvPr id="19" name="Rectangle 18">
            <a:extLst>
              <a:ext uri="{FF2B5EF4-FFF2-40B4-BE49-F238E27FC236}">
                <a16:creationId xmlns:a16="http://schemas.microsoft.com/office/drawing/2014/main" id="{D66AEB15-3F1B-488D-8C6D-465F26289CA4}"/>
              </a:ext>
            </a:extLst>
          </p:cNvPr>
          <p:cNvSpPr>
            <a:spLocks noGrp="1"/>
          </p:cNvSpPr>
          <p:nvPr/>
        </p:nvSpPr>
        <p:spPr>
          <a:xfrm>
            <a:off x="1181100" y="5019675"/>
            <a:ext cx="542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5C4E"/>
                </a:solidFill>
                <a:latin typeface="Aptos"/>
                <a:ea typeface="Aptos"/>
                <a:cs typeface="Aptos"/>
              </a:defRPr>
            </a:pPr>
            <a:r>
              <a:rPr sz="1125" b="0">
                <a:solidFill>
                  <a:srgbClr val="6B5C4E"/>
                </a:solidFill>
                <a:latin typeface="Aptos"/>
                <a:ea typeface="Aptos"/>
                <a:cs typeface="Aptos"/>
              </a:rPr>
              <a:t>Poet biographies and cultural background stay separate from reading.</a:t>
            </a:r>
          </a:p>
        </p:txBody>
      </p:sp>
      <p:sp>
        <p:nvSpPr>
          <p:cNvPr id="20" name="Rectangle 19">
            <a:extLst>
              <a:ext uri="{FF2B5EF4-FFF2-40B4-BE49-F238E27FC236}">
                <a16:creationId xmlns:a16="http://schemas.microsoft.com/office/drawing/2014/main" id="{314565D1-EC05-49C1-8D42-C19572DEBD55}"/>
              </a:ext>
            </a:extLst>
          </p:cNvPr>
          <p:cNvSpPr>
            <a:spLocks noGrp="1"/>
          </p:cNvSpPr>
          <p:nvPr/>
        </p:nvSpPr>
        <p:spPr>
          <a:xfrm>
            <a:off x="7715250" y="2343150"/>
            <a:ext cx="3143250" cy="2381250"/>
          </a:xfrm>
          <a:prstGeom prst="rect">
            <a:avLst/>
          </a:prstGeom>
          <a:solidFill>
            <a:srgbClr val="FFFDF6"/>
          </a:solidFill>
          <a:ln w="9525">
            <a:solidFill>
              <a:srgbClr val="F3E6CF"/>
            </a:solidFill>
            <a:prstDash val="solid"/>
          </a:ln>
        </p:spPr>
      </p:sp>
      <p:sp>
        <p:nvSpPr>
          <p:cNvPr id="21" name="Rectangle 20">
            <a:extLst>
              <a:ext uri="{FF2B5EF4-FFF2-40B4-BE49-F238E27FC236}">
                <a16:creationId xmlns:a16="http://schemas.microsoft.com/office/drawing/2014/main" id="{06C356FA-E8ED-4C20-BC77-428E70B36BDE}"/>
              </a:ext>
            </a:extLst>
          </p:cNvPr>
          <p:cNvSpPr>
            <a:spLocks noGrp="1"/>
          </p:cNvSpPr>
          <p:nvPr/>
        </p:nvSpPr>
        <p:spPr>
          <a:xfrm>
            <a:off x="8020050" y="2686050"/>
            <a:ext cx="2381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8F3E2F"/>
                </a:solidFill>
                <a:latin typeface="Aptos"/>
                <a:ea typeface="Aptos"/>
                <a:cs typeface="Aptos"/>
              </a:defRPr>
            </a:pPr>
            <a:r>
              <a:rPr sz="1050" b="1">
                <a:solidFill>
                  <a:srgbClr val="8F3E2F"/>
                </a:solidFill>
                <a:latin typeface="Aptos"/>
                <a:ea typeface="Aptos"/>
                <a:cs typeface="Aptos"/>
              </a:rPr>
              <a:t>Student Need</a:t>
            </a:r>
          </a:p>
        </p:txBody>
      </p:sp>
      <p:sp>
        <p:nvSpPr>
          <p:cNvPr id="22" name="Rectangle 21">
            <a:extLst>
              <a:ext uri="{FF2B5EF4-FFF2-40B4-BE49-F238E27FC236}">
                <a16:creationId xmlns:a16="http://schemas.microsoft.com/office/drawing/2014/main" id="{EDBC48E6-2A24-43CF-AF19-5A539E3F649F}"/>
              </a:ext>
            </a:extLst>
          </p:cNvPr>
          <p:cNvSpPr>
            <a:spLocks noGrp="1"/>
          </p:cNvSpPr>
          <p:nvPr/>
        </p:nvSpPr>
        <p:spPr>
          <a:xfrm>
            <a:off x="8020050" y="3105150"/>
            <a:ext cx="238125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2D211A"/>
                </a:solidFill>
                <a:latin typeface="Aptos Display"/>
                <a:ea typeface="Aptos Display"/>
                <a:cs typeface="Aptos Display"/>
              </a:defRPr>
            </a:pPr>
            <a:r>
              <a:rPr sz="1800" b="1">
                <a:solidFill>
                  <a:srgbClr val="2D211A"/>
                </a:solidFill>
                <a:latin typeface="Aptos Display"/>
                <a:ea typeface="Aptos Display"/>
                <a:cs typeface="Aptos Display"/>
              </a:rPr>
              <a:t>A calm app that makes Kannada poems readable, listenable, and explainable in one place.</a:t>
            </a:r>
          </a:p>
        </p:txBody>
      </p:sp>
      <p:sp>
        <p:nvSpPr>
          <p:cNvPr id="23" name="Rectangle 22">
            <a:extLst>
              <a:ext uri="{FF2B5EF4-FFF2-40B4-BE49-F238E27FC236}">
                <a16:creationId xmlns:a16="http://schemas.microsoft.com/office/drawing/2014/main" id="{041BD368-7552-436A-AA16-13A5B144C128}"/>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24" name="Rectangle 23">
            <a:extLst>
              <a:ext uri="{FF2B5EF4-FFF2-40B4-BE49-F238E27FC236}">
                <a16:creationId xmlns:a16="http://schemas.microsoft.com/office/drawing/2014/main" id="{C37EE581-AE85-4352-B615-205032A01F45}"/>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02</a:t>
            </a:r>
          </a:p>
        </p:txBody>
      </p:sp>
      <p:sp>
        <p:nvSpPr>
          <p:cNvPr id="25" name="Rectangle 24">
            <a:extLst>
              <a:ext uri="{FF2B5EF4-FFF2-40B4-BE49-F238E27FC236}">
                <a16:creationId xmlns:a16="http://schemas.microsoft.com/office/drawing/2014/main" id="{80CF993C-D493-47D2-8DC3-2ADC66EC12F4}"/>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spTree>
    <p:extLst>
      <p:ext uri="{BB962C8B-B14F-4D97-AF65-F5344CB8AC3E}">
        <p14:creationId xmlns:p14="http://schemas.microsoft.com/office/powerpoint/2010/main" val="356424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CBCC811-4F8C-45F3-B3EC-98CD0B71F774}"/>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804BA0AB-5073-44F5-A21C-71E809BAB7A9}"/>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0568F184-4F91-42A5-B685-0683FA944063}"/>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4" name="kicker-marker">
            <a:extLst>
              <a:ext uri="{FF2B5EF4-FFF2-40B4-BE49-F238E27FC236}">
                <a16:creationId xmlns:a16="http://schemas.microsoft.com/office/drawing/2014/main" id="{C7750215-C0A8-4F4E-8367-97A874B524A9}"/>
              </a:ext>
            </a:extLst>
          </p:cNvPr>
          <p:cNvSpPr>
            <a:spLocks noGrp="1"/>
          </p:cNvSpPr>
          <p:nvPr/>
        </p:nvSpPr>
        <p:spPr>
          <a:xfrm>
            <a:off x="609600" y="547688"/>
            <a:ext cx="285750" cy="28575"/>
          </a:xfrm>
          <a:prstGeom prst="rect">
            <a:avLst/>
          </a:prstGeom>
          <a:solidFill>
            <a:srgbClr val="D5A14B"/>
          </a:solidFill>
          <a:ln w="0">
            <a:solidFill>
              <a:srgbClr val="000000">
                <a:alpha val="0"/>
              </a:srgbClr>
            </a:solidFill>
            <a:prstDash val="solid"/>
          </a:ln>
        </p:spPr>
      </p:sp>
      <p:sp>
        <p:nvSpPr>
          <p:cNvPr id="5" name="kicker-label">
            <a:extLst>
              <a:ext uri="{FF2B5EF4-FFF2-40B4-BE49-F238E27FC236}">
                <a16:creationId xmlns:a16="http://schemas.microsoft.com/office/drawing/2014/main" id="{7E5B1755-5D2D-4139-A919-0B8A2C986F2E}"/>
              </a:ext>
            </a:extLst>
          </p:cNvPr>
          <p:cNvSpPr>
            <a:spLocks noGrp="1"/>
          </p:cNvSpPr>
          <p:nvPr/>
        </p:nvSpPr>
        <p:spPr>
          <a:xfrm>
            <a:off x="1009650" y="4572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8F3E2F"/>
                </a:solidFill>
                <a:latin typeface="Aptos"/>
                <a:ea typeface="Aptos"/>
                <a:cs typeface="Aptos"/>
              </a:defRPr>
            </a:pPr>
            <a:r>
              <a:rPr sz="900" b="1">
                <a:solidFill>
                  <a:srgbClr val="8F3E2F"/>
                </a:solidFill>
                <a:latin typeface="Aptos"/>
                <a:ea typeface="Aptos"/>
                <a:cs typeface="Aptos"/>
              </a:rPr>
              <a:t>VISION</a:t>
            </a:r>
          </a:p>
        </p:txBody>
      </p:sp>
      <p:sp>
        <p:nvSpPr>
          <p:cNvPr id="6" name="Rectangle 5">
            <a:extLst>
              <a:ext uri="{FF2B5EF4-FFF2-40B4-BE49-F238E27FC236}">
                <a16:creationId xmlns:a16="http://schemas.microsoft.com/office/drawing/2014/main" id="{544F9FFC-DDE0-414E-BF90-DA5BEFB8C27F}"/>
              </a:ext>
            </a:extLst>
          </p:cNvPr>
          <p:cNvSpPr>
            <a:spLocks noGrp="1"/>
          </p:cNvSpPr>
          <p:nvPr/>
        </p:nvSpPr>
        <p:spPr>
          <a:xfrm>
            <a:off x="609600" y="723900"/>
            <a:ext cx="7810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2D211A"/>
                </a:solidFill>
                <a:latin typeface="Aptos Display"/>
                <a:ea typeface="Aptos Display"/>
                <a:cs typeface="Aptos Display"/>
              </a:defRPr>
            </a:pPr>
            <a:r>
              <a:rPr lang="en-IN" sz="2550" b="1" dirty="0">
                <a:solidFill>
                  <a:srgbClr val="2D211A"/>
                </a:solidFill>
                <a:latin typeface="Aptos Display"/>
                <a:ea typeface="Aptos Display"/>
                <a:cs typeface="Aptos Display"/>
              </a:rPr>
              <a:t>System Architecture</a:t>
            </a:r>
            <a:endParaRPr sz="2550" b="1" dirty="0">
              <a:solidFill>
                <a:srgbClr val="2D211A"/>
              </a:solidFill>
              <a:latin typeface="Aptos Display"/>
              <a:ea typeface="Aptos Display"/>
              <a:cs typeface="Aptos Display"/>
            </a:endParaRPr>
          </a:p>
        </p:txBody>
      </p:sp>
      <p:sp>
        <p:nvSpPr>
          <p:cNvPr id="25" name="Rectangle 24">
            <a:extLst>
              <a:ext uri="{FF2B5EF4-FFF2-40B4-BE49-F238E27FC236}">
                <a16:creationId xmlns:a16="http://schemas.microsoft.com/office/drawing/2014/main" id="{7DE2706E-F8F2-40F5-AA26-60022533CA9A}"/>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26" name="Rectangle 25">
            <a:extLst>
              <a:ext uri="{FF2B5EF4-FFF2-40B4-BE49-F238E27FC236}">
                <a16:creationId xmlns:a16="http://schemas.microsoft.com/office/drawing/2014/main" id="{CE497756-C94B-4764-88A0-EA7E6BAA17B3}"/>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03</a:t>
            </a:r>
          </a:p>
        </p:txBody>
      </p:sp>
      <p:sp>
        <p:nvSpPr>
          <p:cNvPr id="27" name="Rectangle 26">
            <a:extLst>
              <a:ext uri="{FF2B5EF4-FFF2-40B4-BE49-F238E27FC236}">
                <a16:creationId xmlns:a16="http://schemas.microsoft.com/office/drawing/2014/main" id="{133C9B57-2FA2-469A-9C2D-4F70A383B403}"/>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pic>
        <p:nvPicPr>
          <p:cNvPr id="35" name="Picture 34">
            <a:extLst>
              <a:ext uri="{FF2B5EF4-FFF2-40B4-BE49-F238E27FC236}">
                <a16:creationId xmlns:a16="http://schemas.microsoft.com/office/drawing/2014/main" id="{E66D3364-AB7D-64BE-6BA3-553677196D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0582" y="152400"/>
            <a:ext cx="5373329" cy="6224587"/>
          </a:xfrm>
          <a:prstGeom prst="rect">
            <a:avLst/>
          </a:prstGeom>
        </p:spPr>
      </p:pic>
    </p:spTree>
    <p:extLst>
      <p:ext uri="{BB962C8B-B14F-4D97-AF65-F5344CB8AC3E}">
        <p14:creationId xmlns:p14="http://schemas.microsoft.com/office/powerpoint/2010/main" val="1593702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99034A4-B663-49BA-B0FE-CA9B84852D31}"/>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F275C6B9-889D-40CF-A12D-6C25DC225BD7}"/>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8887FFD4-7257-4CF8-90B0-CA1B5D45A2CE}"/>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4" name="kicker-marker">
            <a:extLst>
              <a:ext uri="{FF2B5EF4-FFF2-40B4-BE49-F238E27FC236}">
                <a16:creationId xmlns:a16="http://schemas.microsoft.com/office/drawing/2014/main" id="{C30C4A8A-062D-40E8-871C-9FD3F8A5798F}"/>
              </a:ext>
            </a:extLst>
          </p:cNvPr>
          <p:cNvSpPr>
            <a:spLocks noGrp="1"/>
          </p:cNvSpPr>
          <p:nvPr/>
        </p:nvSpPr>
        <p:spPr>
          <a:xfrm>
            <a:off x="609600" y="547688"/>
            <a:ext cx="285750" cy="28575"/>
          </a:xfrm>
          <a:prstGeom prst="rect">
            <a:avLst/>
          </a:prstGeom>
          <a:solidFill>
            <a:srgbClr val="D5A14B"/>
          </a:solidFill>
          <a:ln w="0">
            <a:solidFill>
              <a:srgbClr val="000000">
                <a:alpha val="0"/>
              </a:srgbClr>
            </a:solidFill>
            <a:prstDash val="solid"/>
          </a:ln>
        </p:spPr>
      </p:sp>
      <p:sp>
        <p:nvSpPr>
          <p:cNvPr id="5" name="kicker-label">
            <a:extLst>
              <a:ext uri="{FF2B5EF4-FFF2-40B4-BE49-F238E27FC236}">
                <a16:creationId xmlns:a16="http://schemas.microsoft.com/office/drawing/2014/main" id="{7CE5B72E-0831-4A4B-8A99-472C9FDF58BD}"/>
              </a:ext>
            </a:extLst>
          </p:cNvPr>
          <p:cNvSpPr>
            <a:spLocks noGrp="1"/>
          </p:cNvSpPr>
          <p:nvPr/>
        </p:nvSpPr>
        <p:spPr>
          <a:xfrm>
            <a:off x="1009650" y="4572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8F3E2F"/>
                </a:solidFill>
                <a:latin typeface="Aptos"/>
                <a:ea typeface="Aptos"/>
                <a:cs typeface="Aptos"/>
              </a:defRPr>
            </a:pPr>
            <a:r>
              <a:rPr sz="900" b="1">
                <a:solidFill>
                  <a:srgbClr val="8F3E2F"/>
                </a:solidFill>
                <a:latin typeface="Aptos"/>
                <a:ea typeface="Aptos"/>
                <a:cs typeface="Aptos"/>
              </a:rPr>
              <a:t>USER FLOW</a:t>
            </a:r>
          </a:p>
        </p:txBody>
      </p:sp>
      <p:sp>
        <p:nvSpPr>
          <p:cNvPr id="6" name="Rectangle 5">
            <a:extLst>
              <a:ext uri="{FF2B5EF4-FFF2-40B4-BE49-F238E27FC236}">
                <a16:creationId xmlns:a16="http://schemas.microsoft.com/office/drawing/2014/main" id="{B0754B80-D58D-4E35-99D8-C0FCA6BEBCA2}"/>
              </a:ext>
            </a:extLst>
          </p:cNvPr>
          <p:cNvSpPr>
            <a:spLocks noGrp="1"/>
          </p:cNvSpPr>
          <p:nvPr/>
        </p:nvSpPr>
        <p:spPr>
          <a:xfrm>
            <a:off x="609600" y="723900"/>
            <a:ext cx="7810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2D211A"/>
                </a:solidFill>
                <a:latin typeface="Aptos Display"/>
                <a:ea typeface="Aptos Display"/>
                <a:cs typeface="Aptos Display"/>
              </a:defRPr>
            </a:pPr>
            <a:r>
              <a:rPr sz="2550" b="1">
                <a:solidFill>
                  <a:srgbClr val="2D211A"/>
                </a:solidFill>
                <a:latin typeface="Aptos Display"/>
                <a:ea typeface="Aptos Display"/>
                <a:cs typeface="Aptos Display"/>
              </a:rPr>
              <a:t>A beginner can move from poem to meaning in five simple taps.</a:t>
            </a:r>
          </a:p>
        </p:txBody>
      </p:sp>
      <p:sp>
        <p:nvSpPr>
          <p:cNvPr id="7" name="Rectangle 6">
            <a:extLst>
              <a:ext uri="{FF2B5EF4-FFF2-40B4-BE49-F238E27FC236}">
                <a16:creationId xmlns:a16="http://schemas.microsoft.com/office/drawing/2014/main" id="{6FBDB03C-8071-426B-A2BB-2FB378F45A08}"/>
              </a:ext>
            </a:extLst>
          </p:cNvPr>
          <p:cNvSpPr>
            <a:spLocks noGrp="1"/>
          </p:cNvSpPr>
          <p:nvPr/>
        </p:nvSpPr>
        <p:spPr>
          <a:xfrm>
            <a:off x="628650" y="1695450"/>
            <a:ext cx="7048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6B5C4E"/>
                </a:solidFill>
                <a:latin typeface="Aptos"/>
                <a:ea typeface="Aptos"/>
                <a:cs typeface="Aptos"/>
              </a:defRPr>
            </a:pPr>
            <a:r>
              <a:rPr sz="1200" b="0">
                <a:solidFill>
                  <a:srgbClr val="6B5C4E"/>
                </a:solidFill>
                <a:latin typeface="Aptos"/>
                <a:ea typeface="Aptos"/>
                <a:cs typeface="Aptos"/>
              </a:rPr>
              <a:t>The flow is intentionally distraction-free: each screen helps the student do one learning action.</a:t>
            </a:r>
          </a:p>
        </p:txBody>
      </p:sp>
      <p:sp>
        <p:nvSpPr>
          <p:cNvPr id="8" name="Oval 7">
            <a:extLst>
              <a:ext uri="{FF2B5EF4-FFF2-40B4-BE49-F238E27FC236}">
                <a16:creationId xmlns:a16="http://schemas.microsoft.com/office/drawing/2014/main" id="{0903F0E3-7819-4CF4-BB6E-2BF8166DA1DD}"/>
              </a:ext>
            </a:extLst>
          </p:cNvPr>
          <p:cNvSpPr>
            <a:spLocks noGrp="1"/>
          </p:cNvSpPr>
          <p:nvPr/>
        </p:nvSpPr>
        <p:spPr>
          <a:xfrm>
            <a:off x="685800" y="2876550"/>
            <a:ext cx="495300" cy="495300"/>
          </a:xfrm>
          <a:prstGeom prst="ellipse">
            <a:avLst/>
          </a:prstGeom>
          <a:solidFill>
            <a:srgbClr val="8F3E2F"/>
          </a:solidFill>
          <a:ln w="0">
            <a:solidFill>
              <a:srgbClr val="000000">
                <a:alpha val="0"/>
              </a:srgbClr>
            </a:solidFill>
            <a:prstDash val="solid"/>
          </a:ln>
        </p:spPr>
      </p:sp>
      <p:sp>
        <p:nvSpPr>
          <p:cNvPr id="9" name="Rectangle 8">
            <a:extLst>
              <a:ext uri="{FF2B5EF4-FFF2-40B4-BE49-F238E27FC236}">
                <a16:creationId xmlns:a16="http://schemas.microsoft.com/office/drawing/2014/main" id="{8DE1219D-A6A8-4508-AF6F-398509FAAFED}"/>
              </a:ext>
            </a:extLst>
          </p:cNvPr>
          <p:cNvSpPr>
            <a:spLocks noGrp="1"/>
          </p:cNvSpPr>
          <p:nvPr/>
        </p:nvSpPr>
        <p:spPr>
          <a:xfrm>
            <a:off x="685800" y="2981325"/>
            <a:ext cx="495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FFFFFF"/>
                </a:solidFill>
                <a:latin typeface="Aptos"/>
                <a:ea typeface="Aptos"/>
                <a:cs typeface="Aptos"/>
              </a:defRPr>
            </a:pPr>
            <a:r>
              <a:rPr sz="1425" b="1">
                <a:solidFill>
                  <a:srgbClr val="FFFFFF"/>
                </a:solidFill>
                <a:latin typeface="Aptos"/>
                <a:ea typeface="Aptos"/>
                <a:cs typeface="Aptos"/>
              </a:rPr>
              <a:t>1</a:t>
            </a:r>
          </a:p>
        </p:txBody>
      </p:sp>
      <p:sp>
        <p:nvSpPr>
          <p:cNvPr id="10" name="Rectangle 9">
            <a:extLst>
              <a:ext uri="{FF2B5EF4-FFF2-40B4-BE49-F238E27FC236}">
                <a16:creationId xmlns:a16="http://schemas.microsoft.com/office/drawing/2014/main" id="{0868D6EC-2AE6-46D0-96B3-0780EB3BF6AE}"/>
              </a:ext>
            </a:extLst>
          </p:cNvPr>
          <p:cNvSpPr>
            <a:spLocks noGrp="1"/>
          </p:cNvSpPr>
          <p:nvPr/>
        </p:nvSpPr>
        <p:spPr>
          <a:xfrm>
            <a:off x="514350" y="3638550"/>
            <a:ext cx="1428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2D211A"/>
                </a:solidFill>
                <a:latin typeface="Aptos"/>
                <a:ea typeface="Aptos"/>
                <a:cs typeface="Aptos"/>
              </a:defRPr>
            </a:pPr>
            <a:r>
              <a:rPr sz="1500" b="1">
                <a:solidFill>
                  <a:srgbClr val="2D211A"/>
                </a:solidFill>
                <a:latin typeface="Aptos"/>
                <a:ea typeface="Aptos"/>
                <a:cs typeface="Aptos"/>
              </a:rPr>
              <a:t>Open app</a:t>
            </a:r>
          </a:p>
        </p:txBody>
      </p:sp>
      <p:sp>
        <p:nvSpPr>
          <p:cNvPr id="11" name="Rectangle 10">
            <a:extLst>
              <a:ext uri="{FF2B5EF4-FFF2-40B4-BE49-F238E27FC236}">
                <a16:creationId xmlns:a16="http://schemas.microsoft.com/office/drawing/2014/main" id="{52CCB829-85EF-497A-B490-5608F96710F8}"/>
              </a:ext>
            </a:extLst>
          </p:cNvPr>
          <p:cNvSpPr>
            <a:spLocks noGrp="1"/>
          </p:cNvSpPr>
          <p:nvPr/>
        </p:nvSpPr>
        <p:spPr>
          <a:xfrm>
            <a:off x="266700" y="3981450"/>
            <a:ext cx="1905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6B5C4E"/>
                </a:solidFill>
                <a:latin typeface="Aptos"/>
                <a:ea typeface="Aptos"/>
                <a:cs typeface="Aptos"/>
              </a:defRPr>
            </a:pPr>
            <a:r>
              <a:rPr sz="1050" b="0">
                <a:solidFill>
                  <a:srgbClr val="6B5C4E"/>
                </a:solidFill>
                <a:latin typeface="Aptos"/>
                <a:ea typeface="Aptos"/>
                <a:cs typeface="Aptos"/>
              </a:rPr>
              <a:t>Poem of the Day appears</a:t>
            </a:r>
          </a:p>
        </p:txBody>
      </p:sp>
      <p:sp>
        <p:nvSpPr>
          <p:cNvPr id="12" name="Rectangle 11">
            <a:extLst>
              <a:ext uri="{FF2B5EF4-FFF2-40B4-BE49-F238E27FC236}">
                <a16:creationId xmlns:a16="http://schemas.microsoft.com/office/drawing/2014/main" id="{6C89095F-D59E-4F63-9492-D9D5AEED8209}"/>
              </a:ext>
            </a:extLst>
          </p:cNvPr>
          <p:cNvSpPr>
            <a:spLocks noGrp="1"/>
          </p:cNvSpPr>
          <p:nvPr/>
        </p:nvSpPr>
        <p:spPr>
          <a:xfrm>
            <a:off x="1333500" y="3114675"/>
            <a:ext cx="1314450" cy="47625"/>
          </a:xfrm>
          <a:prstGeom prst="rect">
            <a:avLst/>
          </a:prstGeom>
          <a:solidFill>
            <a:srgbClr val="D5A14B"/>
          </a:solidFill>
          <a:ln w="0">
            <a:solidFill>
              <a:srgbClr val="000000">
                <a:alpha val="0"/>
              </a:srgbClr>
            </a:solidFill>
            <a:prstDash val="solid"/>
          </a:ln>
        </p:spPr>
      </p:sp>
      <p:sp>
        <p:nvSpPr>
          <p:cNvPr id="13" name="Oval 12">
            <a:extLst>
              <a:ext uri="{FF2B5EF4-FFF2-40B4-BE49-F238E27FC236}">
                <a16:creationId xmlns:a16="http://schemas.microsoft.com/office/drawing/2014/main" id="{7EE136D4-853D-4218-9196-2BFF392C9431}"/>
              </a:ext>
            </a:extLst>
          </p:cNvPr>
          <p:cNvSpPr>
            <a:spLocks noGrp="1"/>
          </p:cNvSpPr>
          <p:nvPr/>
        </p:nvSpPr>
        <p:spPr>
          <a:xfrm>
            <a:off x="2895600" y="2876550"/>
            <a:ext cx="495300" cy="495300"/>
          </a:xfrm>
          <a:prstGeom prst="ellipse">
            <a:avLst/>
          </a:prstGeom>
          <a:solidFill>
            <a:srgbClr val="336B57"/>
          </a:solidFill>
          <a:ln w="0">
            <a:solidFill>
              <a:srgbClr val="000000">
                <a:alpha val="0"/>
              </a:srgbClr>
            </a:solidFill>
            <a:prstDash val="solid"/>
          </a:ln>
        </p:spPr>
      </p:sp>
      <p:sp>
        <p:nvSpPr>
          <p:cNvPr id="14" name="Rectangle 13">
            <a:extLst>
              <a:ext uri="{FF2B5EF4-FFF2-40B4-BE49-F238E27FC236}">
                <a16:creationId xmlns:a16="http://schemas.microsoft.com/office/drawing/2014/main" id="{0D8020B3-22F0-4C49-9625-3EA005C6FC24}"/>
              </a:ext>
            </a:extLst>
          </p:cNvPr>
          <p:cNvSpPr>
            <a:spLocks noGrp="1"/>
          </p:cNvSpPr>
          <p:nvPr/>
        </p:nvSpPr>
        <p:spPr>
          <a:xfrm>
            <a:off x="2895600" y="2981325"/>
            <a:ext cx="495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FFFFFF"/>
                </a:solidFill>
                <a:latin typeface="Aptos"/>
                <a:ea typeface="Aptos"/>
                <a:cs typeface="Aptos"/>
              </a:defRPr>
            </a:pPr>
            <a:r>
              <a:rPr sz="1425" b="1">
                <a:solidFill>
                  <a:srgbClr val="FFFFFF"/>
                </a:solidFill>
                <a:latin typeface="Aptos"/>
                <a:ea typeface="Aptos"/>
                <a:cs typeface="Aptos"/>
              </a:rPr>
              <a:t>2</a:t>
            </a:r>
          </a:p>
        </p:txBody>
      </p:sp>
      <p:sp>
        <p:nvSpPr>
          <p:cNvPr id="15" name="Rectangle 14">
            <a:extLst>
              <a:ext uri="{FF2B5EF4-FFF2-40B4-BE49-F238E27FC236}">
                <a16:creationId xmlns:a16="http://schemas.microsoft.com/office/drawing/2014/main" id="{89B0A13D-B707-4AD9-9D10-3421B76BB8E3}"/>
              </a:ext>
            </a:extLst>
          </p:cNvPr>
          <p:cNvSpPr>
            <a:spLocks noGrp="1"/>
          </p:cNvSpPr>
          <p:nvPr/>
        </p:nvSpPr>
        <p:spPr>
          <a:xfrm>
            <a:off x="2724150" y="3638550"/>
            <a:ext cx="1428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2D211A"/>
                </a:solidFill>
                <a:latin typeface="Aptos"/>
                <a:ea typeface="Aptos"/>
                <a:cs typeface="Aptos"/>
              </a:defRPr>
            </a:pPr>
            <a:r>
              <a:rPr sz="1500" b="1">
                <a:solidFill>
                  <a:srgbClr val="2D211A"/>
                </a:solidFill>
                <a:latin typeface="Aptos"/>
                <a:ea typeface="Aptos"/>
                <a:cs typeface="Aptos"/>
              </a:rPr>
              <a:t>Read poem</a:t>
            </a:r>
          </a:p>
        </p:txBody>
      </p:sp>
      <p:sp>
        <p:nvSpPr>
          <p:cNvPr id="16" name="Rectangle 15">
            <a:extLst>
              <a:ext uri="{FF2B5EF4-FFF2-40B4-BE49-F238E27FC236}">
                <a16:creationId xmlns:a16="http://schemas.microsoft.com/office/drawing/2014/main" id="{1ABE3A29-91D1-4C5B-A489-99AA9FBA3BE8}"/>
              </a:ext>
            </a:extLst>
          </p:cNvPr>
          <p:cNvSpPr>
            <a:spLocks noGrp="1"/>
          </p:cNvSpPr>
          <p:nvPr/>
        </p:nvSpPr>
        <p:spPr>
          <a:xfrm>
            <a:off x="2476500" y="3981450"/>
            <a:ext cx="1905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6B5C4E"/>
                </a:solidFill>
                <a:latin typeface="Aptos"/>
                <a:ea typeface="Aptos"/>
                <a:cs typeface="Aptos"/>
              </a:defRPr>
            </a:pPr>
            <a:r>
              <a:rPr sz="1050" b="0">
                <a:solidFill>
                  <a:srgbClr val="6B5C4E"/>
                </a:solidFill>
                <a:latin typeface="Aptos"/>
                <a:ea typeface="Aptos"/>
                <a:cs typeface="Aptos"/>
              </a:rPr>
              <a:t>Elegant card layout</a:t>
            </a:r>
          </a:p>
        </p:txBody>
      </p:sp>
      <p:sp>
        <p:nvSpPr>
          <p:cNvPr id="17" name="Rectangle 16">
            <a:extLst>
              <a:ext uri="{FF2B5EF4-FFF2-40B4-BE49-F238E27FC236}">
                <a16:creationId xmlns:a16="http://schemas.microsoft.com/office/drawing/2014/main" id="{C09B8A94-87A6-4E95-8F04-77CE8BBA32AB}"/>
              </a:ext>
            </a:extLst>
          </p:cNvPr>
          <p:cNvSpPr>
            <a:spLocks noGrp="1"/>
          </p:cNvSpPr>
          <p:nvPr/>
        </p:nvSpPr>
        <p:spPr>
          <a:xfrm>
            <a:off x="3543300" y="3114675"/>
            <a:ext cx="1314450" cy="47625"/>
          </a:xfrm>
          <a:prstGeom prst="rect">
            <a:avLst/>
          </a:prstGeom>
          <a:solidFill>
            <a:srgbClr val="D5A14B"/>
          </a:solidFill>
          <a:ln w="0">
            <a:solidFill>
              <a:srgbClr val="000000">
                <a:alpha val="0"/>
              </a:srgbClr>
            </a:solidFill>
            <a:prstDash val="solid"/>
          </a:ln>
        </p:spPr>
      </p:sp>
      <p:sp>
        <p:nvSpPr>
          <p:cNvPr id="18" name="Oval 17">
            <a:extLst>
              <a:ext uri="{FF2B5EF4-FFF2-40B4-BE49-F238E27FC236}">
                <a16:creationId xmlns:a16="http://schemas.microsoft.com/office/drawing/2014/main" id="{C4E1FDE9-97A5-4A88-A1E8-D2FC7FDF1C17}"/>
              </a:ext>
            </a:extLst>
          </p:cNvPr>
          <p:cNvSpPr>
            <a:spLocks noGrp="1"/>
          </p:cNvSpPr>
          <p:nvPr/>
        </p:nvSpPr>
        <p:spPr>
          <a:xfrm>
            <a:off x="5105400" y="2876550"/>
            <a:ext cx="495300" cy="495300"/>
          </a:xfrm>
          <a:prstGeom prst="ellipse">
            <a:avLst/>
          </a:prstGeom>
          <a:solidFill>
            <a:srgbClr val="8F3E2F"/>
          </a:solidFill>
          <a:ln w="0">
            <a:solidFill>
              <a:srgbClr val="000000">
                <a:alpha val="0"/>
              </a:srgbClr>
            </a:solidFill>
            <a:prstDash val="solid"/>
          </a:ln>
        </p:spPr>
      </p:sp>
      <p:sp>
        <p:nvSpPr>
          <p:cNvPr id="19" name="Rectangle 18">
            <a:extLst>
              <a:ext uri="{FF2B5EF4-FFF2-40B4-BE49-F238E27FC236}">
                <a16:creationId xmlns:a16="http://schemas.microsoft.com/office/drawing/2014/main" id="{9C479993-BD98-4127-B890-1FC123DAD9BF}"/>
              </a:ext>
            </a:extLst>
          </p:cNvPr>
          <p:cNvSpPr>
            <a:spLocks noGrp="1"/>
          </p:cNvSpPr>
          <p:nvPr/>
        </p:nvSpPr>
        <p:spPr>
          <a:xfrm>
            <a:off x="5105400" y="2981325"/>
            <a:ext cx="495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FFFFFF"/>
                </a:solidFill>
                <a:latin typeface="Aptos"/>
                <a:ea typeface="Aptos"/>
                <a:cs typeface="Aptos"/>
              </a:defRPr>
            </a:pPr>
            <a:r>
              <a:rPr sz="1425" b="1">
                <a:solidFill>
                  <a:srgbClr val="FFFFFF"/>
                </a:solidFill>
                <a:latin typeface="Aptos"/>
                <a:ea typeface="Aptos"/>
                <a:cs typeface="Aptos"/>
              </a:rPr>
              <a:t>3</a:t>
            </a:r>
          </a:p>
        </p:txBody>
      </p:sp>
      <p:sp>
        <p:nvSpPr>
          <p:cNvPr id="20" name="Rectangle 19">
            <a:extLst>
              <a:ext uri="{FF2B5EF4-FFF2-40B4-BE49-F238E27FC236}">
                <a16:creationId xmlns:a16="http://schemas.microsoft.com/office/drawing/2014/main" id="{3CCE98D7-E889-4007-AB6C-9942F7344DEB}"/>
              </a:ext>
            </a:extLst>
          </p:cNvPr>
          <p:cNvSpPr>
            <a:spLocks noGrp="1"/>
          </p:cNvSpPr>
          <p:nvPr/>
        </p:nvSpPr>
        <p:spPr>
          <a:xfrm>
            <a:off x="4933950" y="3638550"/>
            <a:ext cx="1428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2D211A"/>
                </a:solidFill>
                <a:latin typeface="Aptos"/>
                <a:ea typeface="Aptos"/>
                <a:cs typeface="Aptos"/>
              </a:defRPr>
            </a:pPr>
            <a:r>
              <a:rPr sz="1500" b="1">
                <a:solidFill>
                  <a:srgbClr val="2D211A"/>
                </a:solidFill>
                <a:latin typeface="Aptos"/>
                <a:ea typeface="Aptos"/>
                <a:cs typeface="Aptos"/>
              </a:rPr>
              <a:t>Tap word</a:t>
            </a:r>
          </a:p>
        </p:txBody>
      </p:sp>
      <p:sp>
        <p:nvSpPr>
          <p:cNvPr id="21" name="Rectangle 20">
            <a:extLst>
              <a:ext uri="{FF2B5EF4-FFF2-40B4-BE49-F238E27FC236}">
                <a16:creationId xmlns:a16="http://schemas.microsoft.com/office/drawing/2014/main" id="{C595A34A-D533-48B8-8154-D4FC598A31DB}"/>
              </a:ext>
            </a:extLst>
          </p:cNvPr>
          <p:cNvSpPr>
            <a:spLocks noGrp="1"/>
          </p:cNvSpPr>
          <p:nvPr/>
        </p:nvSpPr>
        <p:spPr>
          <a:xfrm>
            <a:off x="4686300" y="3981450"/>
            <a:ext cx="1905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6B5C4E"/>
                </a:solidFill>
                <a:latin typeface="Aptos"/>
                <a:ea typeface="Aptos"/>
                <a:cs typeface="Aptos"/>
              </a:defRPr>
            </a:pPr>
            <a:r>
              <a:rPr sz="1050" b="0">
                <a:solidFill>
                  <a:srgbClr val="6B5C4E"/>
                </a:solidFill>
                <a:latin typeface="Aptos"/>
                <a:ea typeface="Aptos"/>
                <a:cs typeface="Aptos"/>
              </a:rPr>
              <a:t>Meaning popup opens</a:t>
            </a:r>
          </a:p>
        </p:txBody>
      </p:sp>
      <p:sp>
        <p:nvSpPr>
          <p:cNvPr id="22" name="Rectangle 21">
            <a:extLst>
              <a:ext uri="{FF2B5EF4-FFF2-40B4-BE49-F238E27FC236}">
                <a16:creationId xmlns:a16="http://schemas.microsoft.com/office/drawing/2014/main" id="{454C102A-C216-48C0-A057-672044028CA3}"/>
              </a:ext>
            </a:extLst>
          </p:cNvPr>
          <p:cNvSpPr>
            <a:spLocks noGrp="1"/>
          </p:cNvSpPr>
          <p:nvPr/>
        </p:nvSpPr>
        <p:spPr>
          <a:xfrm>
            <a:off x="5753100" y="3114675"/>
            <a:ext cx="1314450" cy="47625"/>
          </a:xfrm>
          <a:prstGeom prst="rect">
            <a:avLst/>
          </a:prstGeom>
          <a:solidFill>
            <a:srgbClr val="D5A14B"/>
          </a:solidFill>
          <a:ln w="0">
            <a:solidFill>
              <a:srgbClr val="000000">
                <a:alpha val="0"/>
              </a:srgbClr>
            </a:solidFill>
            <a:prstDash val="solid"/>
          </a:ln>
        </p:spPr>
      </p:sp>
      <p:sp>
        <p:nvSpPr>
          <p:cNvPr id="23" name="Oval 22">
            <a:extLst>
              <a:ext uri="{FF2B5EF4-FFF2-40B4-BE49-F238E27FC236}">
                <a16:creationId xmlns:a16="http://schemas.microsoft.com/office/drawing/2014/main" id="{AD92FC85-EAC9-4464-AE3D-985320E8CF07}"/>
              </a:ext>
            </a:extLst>
          </p:cNvPr>
          <p:cNvSpPr>
            <a:spLocks noGrp="1"/>
          </p:cNvSpPr>
          <p:nvPr/>
        </p:nvSpPr>
        <p:spPr>
          <a:xfrm>
            <a:off x="7315200" y="2876550"/>
            <a:ext cx="495300" cy="495300"/>
          </a:xfrm>
          <a:prstGeom prst="ellipse">
            <a:avLst/>
          </a:prstGeom>
          <a:solidFill>
            <a:srgbClr val="336B57"/>
          </a:solidFill>
          <a:ln w="0">
            <a:solidFill>
              <a:srgbClr val="000000">
                <a:alpha val="0"/>
              </a:srgbClr>
            </a:solidFill>
            <a:prstDash val="solid"/>
          </a:ln>
        </p:spPr>
      </p:sp>
      <p:sp>
        <p:nvSpPr>
          <p:cNvPr id="24" name="Rectangle 23">
            <a:extLst>
              <a:ext uri="{FF2B5EF4-FFF2-40B4-BE49-F238E27FC236}">
                <a16:creationId xmlns:a16="http://schemas.microsoft.com/office/drawing/2014/main" id="{B6E4A6DC-424C-4BB4-87FB-214B967EC4AF}"/>
              </a:ext>
            </a:extLst>
          </p:cNvPr>
          <p:cNvSpPr>
            <a:spLocks noGrp="1"/>
          </p:cNvSpPr>
          <p:nvPr/>
        </p:nvSpPr>
        <p:spPr>
          <a:xfrm>
            <a:off x="7315200" y="2981325"/>
            <a:ext cx="495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FFFFFF"/>
                </a:solidFill>
                <a:latin typeface="Aptos"/>
                <a:ea typeface="Aptos"/>
                <a:cs typeface="Aptos"/>
              </a:defRPr>
            </a:pPr>
            <a:r>
              <a:rPr sz="1425" b="1">
                <a:solidFill>
                  <a:srgbClr val="FFFFFF"/>
                </a:solidFill>
                <a:latin typeface="Aptos"/>
                <a:ea typeface="Aptos"/>
                <a:cs typeface="Aptos"/>
              </a:rPr>
              <a:t>4</a:t>
            </a:r>
          </a:p>
        </p:txBody>
      </p:sp>
      <p:sp>
        <p:nvSpPr>
          <p:cNvPr id="25" name="Rectangle 24">
            <a:extLst>
              <a:ext uri="{FF2B5EF4-FFF2-40B4-BE49-F238E27FC236}">
                <a16:creationId xmlns:a16="http://schemas.microsoft.com/office/drawing/2014/main" id="{A9305889-D9C8-4687-A8D4-097EDFA955BC}"/>
              </a:ext>
            </a:extLst>
          </p:cNvPr>
          <p:cNvSpPr>
            <a:spLocks noGrp="1"/>
          </p:cNvSpPr>
          <p:nvPr/>
        </p:nvSpPr>
        <p:spPr>
          <a:xfrm>
            <a:off x="7143750" y="3638550"/>
            <a:ext cx="1428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2D211A"/>
                </a:solidFill>
                <a:latin typeface="Aptos"/>
                <a:ea typeface="Aptos"/>
                <a:cs typeface="Aptos"/>
              </a:defRPr>
            </a:pPr>
            <a:r>
              <a:rPr sz="1500" b="1">
                <a:solidFill>
                  <a:srgbClr val="2D211A"/>
                </a:solidFill>
                <a:latin typeface="Aptos"/>
                <a:ea typeface="Aptos"/>
                <a:cs typeface="Aptos"/>
              </a:rPr>
              <a:t>Play audio</a:t>
            </a:r>
          </a:p>
        </p:txBody>
      </p:sp>
      <p:sp>
        <p:nvSpPr>
          <p:cNvPr id="26" name="Rectangle 25">
            <a:extLst>
              <a:ext uri="{FF2B5EF4-FFF2-40B4-BE49-F238E27FC236}">
                <a16:creationId xmlns:a16="http://schemas.microsoft.com/office/drawing/2014/main" id="{C0D1B52D-FB24-4D3C-99BF-E854F2DBB087}"/>
              </a:ext>
            </a:extLst>
          </p:cNvPr>
          <p:cNvSpPr>
            <a:spLocks noGrp="1"/>
          </p:cNvSpPr>
          <p:nvPr/>
        </p:nvSpPr>
        <p:spPr>
          <a:xfrm>
            <a:off x="6896100" y="3981450"/>
            <a:ext cx="1905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6B5C4E"/>
                </a:solidFill>
                <a:latin typeface="Aptos"/>
                <a:ea typeface="Aptos"/>
                <a:cs typeface="Aptos"/>
              </a:defRPr>
            </a:pPr>
            <a:r>
              <a:rPr sz="1050" b="0">
                <a:solidFill>
                  <a:srgbClr val="6B5C4E"/>
                </a:solidFill>
                <a:latin typeface="Aptos"/>
                <a:ea typeface="Aptos"/>
                <a:cs typeface="Aptos"/>
              </a:rPr>
              <a:t>TTS or MP3 recitation</a:t>
            </a:r>
          </a:p>
        </p:txBody>
      </p:sp>
      <p:sp>
        <p:nvSpPr>
          <p:cNvPr id="27" name="Rectangle 26">
            <a:extLst>
              <a:ext uri="{FF2B5EF4-FFF2-40B4-BE49-F238E27FC236}">
                <a16:creationId xmlns:a16="http://schemas.microsoft.com/office/drawing/2014/main" id="{0C629AA2-85BB-4098-9813-D31EC03CE893}"/>
              </a:ext>
            </a:extLst>
          </p:cNvPr>
          <p:cNvSpPr>
            <a:spLocks noGrp="1"/>
          </p:cNvSpPr>
          <p:nvPr/>
        </p:nvSpPr>
        <p:spPr>
          <a:xfrm>
            <a:off x="7962900" y="3114675"/>
            <a:ext cx="1314450" cy="47625"/>
          </a:xfrm>
          <a:prstGeom prst="rect">
            <a:avLst/>
          </a:prstGeom>
          <a:solidFill>
            <a:srgbClr val="D5A14B"/>
          </a:solidFill>
          <a:ln w="0">
            <a:solidFill>
              <a:srgbClr val="000000">
                <a:alpha val="0"/>
              </a:srgbClr>
            </a:solidFill>
            <a:prstDash val="solid"/>
          </a:ln>
        </p:spPr>
      </p:sp>
      <p:sp>
        <p:nvSpPr>
          <p:cNvPr id="28" name="Oval 27">
            <a:extLst>
              <a:ext uri="{FF2B5EF4-FFF2-40B4-BE49-F238E27FC236}">
                <a16:creationId xmlns:a16="http://schemas.microsoft.com/office/drawing/2014/main" id="{89893CB1-D7A4-4843-9E4D-A1E3505718B3}"/>
              </a:ext>
            </a:extLst>
          </p:cNvPr>
          <p:cNvSpPr>
            <a:spLocks noGrp="1"/>
          </p:cNvSpPr>
          <p:nvPr/>
        </p:nvSpPr>
        <p:spPr>
          <a:xfrm>
            <a:off x="9525000" y="2876550"/>
            <a:ext cx="495300" cy="495300"/>
          </a:xfrm>
          <a:prstGeom prst="ellipse">
            <a:avLst/>
          </a:prstGeom>
          <a:solidFill>
            <a:srgbClr val="8F3E2F"/>
          </a:solidFill>
          <a:ln w="0">
            <a:solidFill>
              <a:srgbClr val="000000">
                <a:alpha val="0"/>
              </a:srgbClr>
            </a:solidFill>
            <a:prstDash val="solid"/>
          </a:ln>
        </p:spPr>
      </p:sp>
      <p:sp>
        <p:nvSpPr>
          <p:cNvPr id="29" name="Rectangle 28">
            <a:extLst>
              <a:ext uri="{FF2B5EF4-FFF2-40B4-BE49-F238E27FC236}">
                <a16:creationId xmlns:a16="http://schemas.microsoft.com/office/drawing/2014/main" id="{17CF657D-34AB-4883-9A94-6D0660124BA2}"/>
              </a:ext>
            </a:extLst>
          </p:cNvPr>
          <p:cNvSpPr>
            <a:spLocks noGrp="1"/>
          </p:cNvSpPr>
          <p:nvPr/>
        </p:nvSpPr>
        <p:spPr>
          <a:xfrm>
            <a:off x="9525000" y="2981325"/>
            <a:ext cx="495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FFFFFF"/>
                </a:solidFill>
                <a:latin typeface="Aptos"/>
                <a:ea typeface="Aptos"/>
                <a:cs typeface="Aptos"/>
              </a:defRPr>
            </a:pPr>
            <a:r>
              <a:rPr sz="1425" b="1">
                <a:solidFill>
                  <a:srgbClr val="FFFFFF"/>
                </a:solidFill>
                <a:latin typeface="Aptos"/>
                <a:ea typeface="Aptos"/>
                <a:cs typeface="Aptos"/>
              </a:rPr>
              <a:t>5</a:t>
            </a:r>
          </a:p>
        </p:txBody>
      </p:sp>
      <p:sp>
        <p:nvSpPr>
          <p:cNvPr id="30" name="Rectangle 29">
            <a:extLst>
              <a:ext uri="{FF2B5EF4-FFF2-40B4-BE49-F238E27FC236}">
                <a16:creationId xmlns:a16="http://schemas.microsoft.com/office/drawing/2014/main" id="{7E870A00-9D76-42FA-AE05-F7B8EB431271}"/>
              </a:ext>
            </a:extLst>
          </p:cNvPr>
          <p:cNvSpPr>
            <a:spLocks noGrp="1"/>
          </p:cNvSpPr>
          <p:nvPr/>
        </p:nvSpPr>
        <p:spPr>
          <a:xfrm>
            <a:off x="9353550" y="3638550"/>
            <a:ext cx="1428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2D211A"/>
                </a:solidFill>
                <a:latin typeface="Aptos"/>
                <a:ea typeface="Aptos"/>
                <a:cs typeface="Aptos"/>
              </a:defRPr>
            </a:pPr>
            <a:r>
              <a:rPr sz="1500" b="1">
                <a:solidFill>
                  <a:srgbClr val="2D211A"/>
                </a:solidFill>
                <a:latin typeface="Aptos"/>
                <a:ea typeface="Aptos"/>
                <a:cs typeface="Aptos"/>
              </a:rPr>
              <a:t>Explore poet</a:t>
            </a:r>
          </a:p>
        </p:txBody>
      </p:sp>
      <p:sp>
        <p:nvSpPr>
          <p:cNvPr id="31" name="Rectangle 30">
            <a:extLst>
              <a:ext uri="{FF2B5EF4-FFF2-40B4-BE49-F238E27FC236}">
                <a16:creationId xmlns:a16="http://schemas.microsoft.com/office/drawing/2014/main" id="{1F484945-92EA-4CF7-A6D1-2833306D26B2}"/>
              </a:ext>
            </a:extLst>
          </p:cNvPr>
          <p:cNvSpPr>
            <a:spLocks noGrp="1"/>
          </p:cNvSpPr>
          <p:nvPr/>
        </p:nvSpPr>
        <p:spPr>
          <a:xfrm>
            <a:off x="9105900" y="3981450"/>
            <a:ext cx="1905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6B5C4E"/>
                </a:solidFill>
                <a:latin typeface="Aptos"/>
                <a:ea typeface="Aptos"/>
                <a:cs typeface="Aptos"/>
              </a:defRPr>
            </a:pPr>
            <a:r>
              <a:rPr sz="1050" b="0">
                <a:solidFill>
                  <a:srgbClr val="6B5C4E"/>
                </a:solidFill>
                <a:latin typeface="Aptos"/>
                <a:ea typeface="Aptos"/>
                <a:cs typeface="Aptos"/>
              </a:rPr>
              <a:t>Biography and famous works</a:t>
            </a:r>
          </a:p>
        </p:txBody>
      </p:sp>
      <p:sp>
        <p:nvSpPr>
          <p:cNvPr id="32" name="Rectangle 31">
            <a:extLst>
              <a:ext uri="{FF2B5EF4-FFF2-40B4-BE49-F238E27FC236}">
                <a16:creationId xmlns:a16="http://schemas.microsoft.com/office/drawing/2014/main" id="{98B8F2C9-B68C-4F9C-83B7-16BD7816C252}"/>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33" name="Rectangle 32">
            <a:extLst>
              <a:ext uri="{FF2B5EF4-FFF2-40B4-BE49-F238E27FC236}">
                <a16:creationId xmlns:a16="http://schemas.microsoft.com/office/drawing/2014/main" id="{7381FEFF-126E-4412-965B-78CE97A3954E}"/>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04</a:t>
            </a:r>
          </a:p>
        </p:txBody>
      </p:sp>
      <p:sp>
        <p:nvSpPr>
          <p:cNvPr id="34" name="Rectangle 33">
            <a:extLst>
              <a:ext uri="{FF2B5EF4-FFF2-40B4-BE49-F238E27FC236}">
                <a16:creationId xmlns:a16="http://schemas.microsoft.com/office/drawing/2014/main" id="{A48585E1-B51E-4F1F-8C73-0B11456F45B9}"/>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spTree>
    <p:extLst>
      <p:ext uri="{BB962C8B-B14F-4D97-AF65-F5344CB8AC3E}">
        <p14:creationId xmlns:p14="http://schemas.microsoft.com/office/powerpoint/2010/main" val="1691725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6AACC3F-94C7-4E26-9CD4-8E4B833806FB}"/>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1D7B3B86-60AE-4417-9E2E-C2BB7C4E6257}"/>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C93A699B-028E-4EA8-A044-093E4BFDF1C7}"/>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5" name="kicker-label">
            <a:extLst>
              <a:ext uri="{FF2B5EF4-FFF2-40B4-BE49-F238E27FC236}">
                <a16:creationId xmlns:a16="http://schemas.microsoft.com/office/drawing/2014/main" id="{D661A086-31C8-42B4-B890-553D3DCD27C9}"/>
              </a:ext>
            </a:extLst>
          </p:cNvPr>
          <p:cNvSpPr>
            <a:spLocks noGrp="1"/>
          </p:cNvSpPr>
          <p:nvPr/>
        </p:nvSpPr>
        <p:spPr>
          <a:xfrm>
            <a:off x="1009650" y="457200"/>
            <a:ext cx="4963430" cy="687388"/>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8F3E2F"/>
                </a:solidFill>
                <a:latin typeface="Aptos"/>
                <a:ea typeface="Aptos"/>
                <a:cs typeface="Aptos"/>
              </a:defRPr>
            </a:pPr>
            <a:r>
              <a:rPr lang="en-IN" sz="2000" b="1" dirty="0">
                <a:solidFill>
                  <a:srgbClr val="8F3E2F"/>
                </a:solidFill>
                <a:latin typeface="Aptos"/>
                <a:ea typeface="Aptos"/>
                <a:cs typeface="Aptos"/>
              </a:rPr>
              <a:t>Technology Stack - Backend</a:t>
            </a:r>
            <a:endParaRPr sz="2000" b="1" dirty="0">
              <a:solidFill>
                <a:srgbClr val="8F3E2F"/>
              </a:solidFill>
              <a:latin typeface="Aptos"/>
              <a:ea typeface="Aptos"/>
              <a:cs typeface="Aptos"/>
            </a:endParaRPr>
          </a:p>
        </p:txBody>
      </p:sp>
      <p:sp>
        <p:nvSpPr>
          <p:cNvPr id="30" name="Rectangle 29">
            <a:extLst>
              <a:ext uri="{FF2B5EF4-FFF2-40B4-BE49-F238E27FC236}">
                <a16:creationId xmlns:a16="http://schemas.microsoft.com/office/drawing/2014/main" id="{57878B06-B1E6-4C37-9243-29BFE1B36260}"/>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31" name="Rectangle 30">
            <a:extLst>
              <a:ext uri="{FF2B5EF4-FFF2-40B4-BE49-F238E27FC236}">
                <a16:creationId xmlns:a16="http://schemas.microsoft.com/office/drawing/2014/main" id="{2E2C01BC-1A2C-4508-8A66-2B6BC5D53929}"/>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05</a:t>
            </a:r>
          </a:p>
        </p:txBody>
      </p:sp>
      <p:sp>
        <p:nvSpPr>
          <p:cNvPr id="32" name="Rectangle 31">
            <a:extLst>
              <a:ext uri="{FF2B5EF4-FFF2-40B4-BE49-F238E27FC236}">
                <a16:creationId xmlns:a16="http://schemas.microsoft.com/office/drawing/2014/main" id="{A9EFD93F-1B06-40D5-B10F-DD88C16A6352}"/>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graphicFrame>
        <p:nvGraphicFramePr>
          <p:cNvPr id="34" name="Table 33">
            <a:extLst>
              <a:ext uri="{FF2B5EF4-FFF2-40B4-BE49-F238E27FC236}">
                <a16:creationId xmlns:a16="http://schemas.microsoft.com/office/drawing/2014/main" id="{D95D19E7-79A1-0A9D-3F27-94D543DBA63E}"/>
              </a:ext>
            </a:extLst>
          </p:cNvPr>
          <p:cNvGraphicFramePr>
            <a:graphicFrameLocks noGrp="1"/>
          </p:cNvGraphicFramePr>
          <p:nvPr>
            <p:extLst>
              <p:ext uri="{D42A27DB-BD31-4B8C-83A1-F6EECF244321}">
                <p14:modId xmlns:p14="http://schemas.microsoft.com/office/powerpoint/2010/main" val="4233403024"/>
              </p:ext>
            </p:extLst>
          </p:nvPr>
        </p:nvGraphicFramePr>
        <p:xfrm>
          <a:off x="1246870" y="1253330"/>
          <a:ext cx="5946410" cy="4840960"/>
        </p:xfrm>
        <a:graphic>
          <a:graphicData uri="http://schemas.openxmlformats.org/drawingml/2006/table">
            <a:tbl>
              <a:tblPr>
                <a:tableStyleId>{2D5ABB26-0587-4C30-8999-92F81FD0307C}</a:tableStyleId>
              </a:tblPr>
              <a:tblGrid>
                <a:gridCol w="2973205">
                  <a:extLst>
                    <a:ext uri="{9D8B030D-6E8A-4147-A177-3AD203B41FA5}">
                      <a16:colId xmlns:a16="http://schemas.microsoft.com/office/drawing/2014/main" val="2866667775"/>
                    </a:ext>
                  </a:extLst>
                </a:gridCol>
                <a:gridCol w="2973205">
                  <a:extLst>
                    <a:ext uri="{9D8B030D-6E8A-4147-A177-3AD203B41FA5}">
                      <a16:colId xmlns:a16="http://schemas.microsoft.com/office/drawing/2014/main" val="1358761325"/>
                    </a:ext>
                  </a:extLst>
                </a:gridCol>
              </a:tblGrid>
              <a:tr h="223420">
                <a:tc>
                  <a:txBody>
                    <a:bodyPr/>
                    <a:lstStyle/>
                    <a:p>
                      <a:pPr algn="l" fontAlgn="t">
                        <a:buNone/>
                      </a:pPr>
                      <a:r>
                        <a:rPr lang="en-IN" sz="1200" b="1" dirty="0">
                          <a:solidFill>
                            <a:schemeClr val="tx1"/>
                          </a:solidFill>
                          <a:effectLst/>
                        </a:rPr>
                        <a:t>Technology</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r>
                        <a:rPr lang="en-IN" sz="1200" b="1" dirty="0">
                          <a:solidFill>
                            <a:schemeClr val="tx1"/>
                          </a:solidFill>
                          <a:effectLst/>
                        </a:rPr>
                        <a:t>Purpose</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2715876"/>
                  </a:ext>
                </a:extLst>
              </a:tr>
              <a:tr h="562626">
                <a:tc>
                  <a:txBody>
                    <a:bodyPr/>
                    <a:lstStyle/>
                    <a:p>
                      <a:pPr fontAlgn="t">
                        <a:buNone/>
                      </a:pPr>
                      <a:r>
                        <a:rPr lang="en-IN" sz="1200" b="1" dirty="0">
                          <a:effectLst/>
                        </a:rPr>
                        <a:t>Local JSON File</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buNone/>
                      </a:pPr>
                      <a:r>
                        <a:rPr lang="en-US" sz="1200" b="1">
                          <a:effectLst/>
                        </a:rPr>
                        <a:t>Stores 52 poems, word meanings, Bhavartha, and poet biographies</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8320538"/>
                  </a:ext>
                </a:extLst>
              </a:tr>
              <a:tr h="388018">
                <a:tc>
                  <a:txBody>
                    <a:bodyPr/>
                    <a:lstStyle/>
                    <a:p>
                      <a:pPr fontAlgn="t">
                        <a:buNone/>
                      </a:pPr>
                      <a:r>
                        <a:rPr lang="en-IN" sz="1200" b="1">
                          <a:effectLst/>
                        </a:rPr>
                        <a:t>Android Assets Folder</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buNone/>
                      </a:pPr>
                      <a:r>
                        <a:rPr lang="en-US" sz="1200" b="1">
                          <a:effectLst/>
                        </a:rPr>
                        <a:t>Keeps kavya_data.json bundled inside the app</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6589048"/>
                  </a:ext>
                </a:extLst>
              </a:tr>
              <a:tr h="388018">
                <a:tc>
                  <a:txBody>
                    <a:bodyPr/>
                    <a:lstStyle/>
                    <a:p>
                      <a:pPr fontAlgn="t">
                        <a:buNone/>
                      </a:pPr>
                      <a:r>
                        <a:rPr lang="en-IN" sz="1200" b="1">
                          <a:effectLst/>
                        </a:rPr>
                        <a:t>Gson Library</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buNone/>
                      </a:pPr>
                      <a:r>
                        <a:rPr lang="en-US" sz="1200" b="1">
                          <a:effectLst/>
                        </a:rPr>
                        <a:t>Converts JSON data into Kotlin data classes</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395121"/>
                  </a:ext>
                </a:extLst>
              </a:tr>
              <a:tr h="562626">
                <a:tc>
                  <a:txBody>
                    <a:bodyPr/>
                    <a:lstStyle/>
                    <a:p>
                      <a:pPr fontAlgn="t">
                        <a:buNone/>
                      </a:pPr>
                      <a:r>
                        <a:rPr lang="en-IN" sz="1200" b="1">
                          <a:effectLst/>
                        </a:rPr>
                        <a:t>Kotlin Data Classes</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buNone/>
                      </a:pPr>
                      <a:r>
                        <a:rPr lang="en-US" sz="1200" b="1">
                          <a:effectLst/>
                        </a:rPr>
                        <a:t>Represents poem, word meaning, poet, and full app data</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1588587"/>
                  </a:ext>
                </a:extLst>
              </a:tr>
              <a:tr h="388018">
                <a:tc>
                  <a:txBody>
                    <a:bodyPr/>
                    <a:lstStyle/>
                    <a:p>
                      <a:pPr fontAlgn="t">
                        <a:buNone/>
                      </a:pPr>
                      <a:r>
                        <a:rPr lang="en-IN" sz="1200" b="1">
                          <a:effectLst/>
                        </a:rPr>
                        <a:t>Date API / LocalDate</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buNone/>
                      </a:pPr>
                      <a:r>
                        <a:rPr lang="en-US" sz="1200" b="1">
                          <a:effectLst/>
                        </a:rPr>
                        <a:t>Selects the Poem of the Day automatically</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4716374"/>
                  </a:ext>
                </a:extLst>
              </a:tr>
              <a:tr h="388018">
                <a:tc>
                  <a:txBody>
                    <a:bodyPr/>
                    <a:lstStyle/>
                    <a:p>
                      <a:pPr fontAlgn="t">
                        <a:buNone/>
                      </a:pPr>
                      <a:r>
                        <a:rPr lang="en-IN" sz="1200" b="1">
                          <a:effectLst/>
                        </a:rPr>
                        <a:t>MediaPlayer</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buNone/>
                      </a:pPr>
                      <a:r>
                        <a:rPr lang="en-US" sz="1200" b="1">
                          <a:effectLst/>
                        </a:rPr>
                        <a:t>Plays MP3 poem recitations if audio files are added</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0843411"/>
                  </a:ext>
                </a:extLst>
              </a:tr>
              <a:tr h="562626">
                <a:tc>
                  <a:txBody>
                    <a:bodyPr/>
                    <a:lstStyle/>
                    <a:p>
                      <a:pPr fontAlgn="t">
                        <a:buNone/>
                      </a:pPr>
                      <a:r>
                        <a:rPr lang="en-IN" sz="1200" b="1">
                          <a:effectLst/>
                        </a:rPr>
                        <a:t>TextToSpeech</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buNone/>
                      </a:pPr>
                      <a:r>
                        <a:rPr lang="en-US" sz="1200" b="1">
                          <a:effectLst/>
                        </a:rPr>
                        <a:t>Generates AI-style voice recitation when MP3 is not available</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2466418"/>
                  </a:ext>
                </a:extLst>
              </a:tr>
              <a:tr h="388018">
                <a:tc>
                  <a:txBody>
                    <a:bodyPr/>
                    <a:lstStyle/>
                    <a:p>
                      <a:pPr fontAlgn="t">
                        <a:buNone/>
                      </a:pPr>
                      <a:r>
                        <a:rPr lang="en-IN" sz="1200" b="1">
                          <a:effectLst/>
                        </a:rPr>
                        <a:t>Offline-First Storage</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buNone/>
                      </a:pPr>
                      <a:r>
                        <a:rPr lang="en-US" sz="1200" b="1">
                          <a:effectLst/>
                        </a:rPr>
                        <a:t>Allows poem reading without internet</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773424"/>
                  </a:ext>
                </a:extLst>
              </a:tr>
              <a:tr h="388018">
                <a:tc>
                  <a:txBody>
                    <a:bodyPr/>
                    <a:lstStyle/>
                    <a:p>
                      <a:pPr fontAlgn="t">
                        <a:buNone/>
                      </a:pPr>
                      <a:r>
                        <a:rPr lang="en-IN" sz="1200" b="1">
                          <a:effectLst/>
                        </a:rPr>
                        <a:t>Repository-like Data Flow</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buNone/>
                      </a:pPr>
                      <a:r>
                        <a:rPr lang="en-US" sz="1200" b="1">
                          <a:effectLst/>
                        </a:rPr>
                        <a:t>Centralizes poem data loading from assets to UI</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8435089"/>
                  </a:ext>
                </a:extLst>
              </a:tr>
              <a:tr h="562626">
                <a:tc>
                  <a:txBody>
                    <a:bodyPr/>
                    <a:lstStyle/>
                    <a:p>
                      <a:pPr fontAlgn="t">
                        <a:buNone/>
                      </a:pPr>
                      <a:r>
                        <a:rPr lang="en-IN" sz="1200" b="1" dirty="0">
                          <a:effectLst/>
                        </a:rPr>
                        <a:t>Gradle Dependencies</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buNone/>
                      </a:pPr>
                      <a:r>
                        <a:rPr lang="en-US" sz="1200" b="1" dirty="0">
                          <a:effectLst/>
                        </a:rPr>
                        <a:t>Manages app libraries like Compose, </a:t>
                      </a:r>
                      <a:r>
                        <a:rPr lang="en-US" sz="1200" b="1" dirty="0" err="1">
                          <a:effectLst/>
                        </a:rPr>
                        <a:t>Gson</a:t>
                      </a:r>
                      <a:r>
                        <a:rPr lang="en-US" sz="1200" b="1" dirty="0">
                          <a:effectLst/>
                        </a:rPr>
                        <a:t>, and Material UI</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9859012"/>
                  </a:ext>
                </a:extLst>
              </a:tr>
            </a:tbl>
          </a:graphicData>
        </a:graphic>
      </p:graphicFrame>
    </p:spTree>
    <p:extLst>
      <p:ext uri="{BB962C8B-B14F-4D97-AF65-F5344CB8AC3E}">
        <p14:creationId xmlns:p14="http://schemas.microsoft.com/office/powerpoint/2010/main" val="776577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F2AC62E-AD41-4FE3-923F-CD84815B1F79}"/>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2A15C7C5-BAA8-45FB-8796-3A7091A01F55}"/>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025D26CF-5F0F-4121-BDE8-D3F5F3604421}"/>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4" name="kicker-marker">
            <a:extLst>
              <a:ext uri="{FF2B5EF4-FFF2-40B4-BE49-F238E27FC236}">
                <a16:creationId xmlns:a16="http://schemas.microsoft.com/office/drawing/2014/main" id="{37A4BF2F-E8B6-4488-97BB-FD081147004A}"/>
              </a:ext>
            </a:extLst>
          </p:cNvPr>
          <p:cNvSpPr>
            <a:spLocks noGrp="1"/>
          </p:cNvSpPr>
          <p:nvPr/>
        </p:nvSpPr>
        <p:spPr>
          <a:xfrm>
            <a:off x="609600" y="547688"/>
            <a:ext cx="285750" cy="28575"/>
          </a:xfrm>
          <a:prstGeom prst="rect">
            <a:avLst/>
          </a:prstGeom>
          <a:solidFill>
            <a:srgbClr val="D5A14B"/>
          </a:solidFill>
          <a:ln w="0">
            <a:solidFill>
              <a:srgbClr val="000000">
                <a:alpha val="0"/>
              </a:srgbClr>
            </a:solidFill>
            <a:prstDash val="solid"/>
          </a:ln>
        </p:spPr>
      </p:sp>
      <p:sp>
        <p:nvSpPr>
          <p:cNvPr id="5" name="kicker-label">
            <a:extLst>
              <a:ext uri="{FF2B5EF4-FFF2-40B4-BE49-F238E27FC236}">
                <a16:creationId xmlns:a16="http://schemas.microsoft.com/office/drawing/2014/main" id="{5110E30A-AA18-4B77-A8CA-4B765BE7DC7D}"/>
              </a:ext>
            </a:extLst>
          </p:cNvPr>
          <p:cNvSpPr>
            <a:spLocks noGrp="1"/>
          </p:cNvSpPr>
          <p:nvPr/>
        </p:nvSpPr>
        <p:spPr>
          <a:xfrm>
            <a:off x="1009650" y="457199"/>
            <a:ext cx="4730750" cy="672465"/>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8F3E2F"/>
                </a:solidFill>
                <a:latin typeface="Aptos"/>
                <a:ea typeface="Aptos"/>
                <a:cs typeface="Aptos"/>
              </a:defRPr>
            </a:pPr>
            <a:r>
              <a:rPr lang="en-IN" sz="2000" b="1" dirty="0">
                <a:solidFill>
                  <a:srgbClr val="8F3E2F"/>
                </a:solidFill>
                <a:latin typeface="Aptos"/>
                <a:ea typeface="Aptos"/>
                <a:cs typeface="Aptos"/>
              </a:rPr>
              <a:t>Technology Stack – Frontend / UI</a:t>
            </a:r>
            <a:endParaRPr sz="2000" b="1" dirty="0">
              <a:solidFill>
                <a:srgbClr val="8F3E2F"/>
              </a:solidFill>
              <a:latin typeface="Aptos"/>
              <a:ea typeface="Aptos"/>
              <a:cs typeface="Aptos"/>
            </a:endParaRPr>
          </a:p>
        </p:txBody>
      </p:sp>
      <p:sp>
        <p:nvSpPr>
          <p:cNvPr id="24" name="Rectangle 23">
            <a:extLst>
              <a:ext uri="{FF2B5EF4-FFF2-40B4-BE49-F238E27FC236}">
                <a16:creationId xmlns:a16="http://schemas.microsoft.com/office/drawing/2014/main" id="{52105BCA-C84E-4758-A14B-9E34D7056588}"/>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25" name="Rectangle 24">
            <a:extLst>
              <a:ext uri="{FF2B5EF4-FFF2-40B4-BE49-F238E27FC236}">
                <a16:creationId xmlns:a16="http://schemas.microsoft.com/office/drawing/2014/main" id="{8CB2AA04-7DE1-424C-8308-CF683525E19F}"/>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06</a:t>
            </a:r>
          </a:p>
        </p:txBody>
      </p:sp>
      <p:sp>
        <p:nvSpPr>
          <p:cNvPr id="26" name="Rectangle 25">
            <a:extLst>
              <a:ext uri="{FF2B5EF4-FFF2-40B4-BE49-F238E27FC236}">
                <a16:creationId xmlns:a16="http://schemas.microsoft.com/office/drawing/2014/main" id="{32668B29-1018-4697-910C-3A94A7C3895B}"/>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graphicFrame>
        <p:nvGraphicFramePr>
          <p:cNvPr id="28" name="Table 27">
            <a:extLst>
              <a:ext uri="{FF2B5EF4-FFF2-40B4-BE49-F238E27FC236}">
                <a16:creationId xmlns:a16="http://schemas.microsoft.com/office/drawing/2014/main" id="{E5250FDC-B371-5E7B-0E51-D81CBF29E93B}"/>
              </a:ext>
            </a:extLst>
          </p:cNvPr>
          <p:cNvGraphicFramePr>
            <a:graphicFrameLocks noGrp="1"/>
          </p:cNvGraphicFramePr>
          <p:nvPr>
            <p:extLst>
              <p:ext uri="{D42A27DB-BD31-4B8C-83A1-F6EECF244321}">
                <p14:modId xmlns:p14="http://schemas.microsoft.com/office/powerpoint/2010/main" val="1869007540"/>
              </p:ext>
            </p:extLst>
          </p:nvPr>
        </p:nvGraphicFramePr>
        <p:xfrm>
          <a:off x="1009650" y="1361353"/>
          <a:ext cx="5906770" cy="4922057"/>
        </p:xfrm>
        <a:graphic>
          <a:graphicData uri="http://schemas.openxmlformats.org/drawingml/2006/table">
            <a:tbl>
              <a:tblPr/>
              <a:tblGrid>
                <a:gridCol w="2953385">
                  <a:extLst>
                    <a:ext uri="{9D8B030D-6E8A-4147-A177-3AD203B41FA5}">
                      <a16:colId xmlns:a16="http://schemas.microsoft.com/office/drawing/2014/main" val="2925164305"/>
                    </a:ext>
                  </a:extLst>
                </a:gridCol>
                <a:gridCol w="2953385">
                  <a:extLst>
                    <a:ext uri="{9D8B030D-6E8A-4147-A177-3AD203B41FA5}">
                      <a16:colId xmlns:a16="http://schemas.microsoft.com/office/drawing/2014/main" val="3085501283"/>
                    </a:ext>
                  </a:extLst>
                </a:gridCol>
              </a:tblGrid>
              <a:tr h="218769">
                <a:tc>
                  <a:txBody>
                    <a:bodyPr/>
                    <a:lstStyle/>
                    <a:p>
                      <a:pPr algn="l" fontAlgn="t">
                        <a:buNone/>
                      </a:pPr>
                      <a:r>
                        <a:rPr lang="en-IN" sz="1200" b="1" dirty="0">
                          <a:solidFill>
                            <a:schemeClr val="tx1"/>
                          </a:solidFill>
                          <a:effectLst/>
                        </a:rPr>
                        <a:t>Technology</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buNone/>
                      </a:pPr>
                      <a:r>
                        <a:rPr lang="en-IN" sz="1200" b="1" dirty="0">
                          <a:solidFill>
                            <a:schemeClr val="tx1"/>
                          </a:solidFill>
                          <a:effectLst/>
                        </a:rPr>
                        <a:t>Purpose</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5104814"/>
                  </a:ext>
                </a:extLst>
              </a:tr>
              <a:tr h="397762">
                <a:tc>
                  <a:txBody>
                    <a:bodyPr/>
                    <a:lstStyle/>
                    <a:p>
                      <a:pPr fontAlgn="t">
                        <a:buNone/>
                      </a:pPr>
                      <a:r>
                        <a:rPr lang="en-IN" sz="1200" b="1" dirty="0">
                          <a:effectLst/>
                        </a:rPr>
                        <a:t>Kotlin</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200" b="1">
                          <a:effectLst/>
                        </a:rPr>
                        <a:t>Main programming language for Android logic</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954300"/>
                  </a:ext>
                </a:extLst>
              </a:tr>
              <a:tr h="397762">
                <a:tc>
                  <a:txBody>
                    <a:bodyPr/>
                    <a:lstStyle/>
                    <a:p>
                      <a:pPr fontAlgn="t">
                        <a:buNone/>
                      </a:pPr>
                      <a:r>
                        <a:rPr lang="en-IN" sz="1200" b="1">
                          <a:effectLst/>
                        </a:rPr>
                        <a:t>Jetpack Compose</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200" b="1">
                          <a:effectLst/>
                        </a:rPr>
                        <a:t>Builds the complete app UI using Kotlin</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731882"/>
                  </a:ext>
                </a:extLst>
              </a:tr>
              <a:tr h="576755">
                <a:tc>
                  <a:txBody>
                    <a:bodyPr/>
                    <a:lstStyle/>
                    <a:p>
                      <a:pPr fontAlgn="t">
                        <a:buNone/>
                      </a:pPr>
                      <a:r>
                        <a:rPr lang="en-IN" sz="1200" b="1">
                          <a:effectLst/>
                        </a:rPr>
                        <a:t>Material Design 3</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200" b="1">
                          <a:effectLst/>
                        </a:rPr>
                        <a:t>Provides modern UI components like cards, navigation, and dialogs</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7268355"/>
                  </a:ext>
                </a:extLst>
              </a:tr>
              <a:tr h="576755">
                <a:tc>
                  <a:txBody>
                    <a:bodyPr/>
                    <a:lstStyle/>
                    <a:p>
                      <a:pPr fontAlgn="t">
                        <a:buNone/>
                      </a:pPr>
                      <a:r>
                        <a:rPr lang="en-IN" sz="1200" b="1">
                          <a:effectLst/>
                        </a:rPr>
                        <a:t>Navigation Bar</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200" b="1">
                          <a:effectLst/>
                        </a:rPr>
                        <a:t>Allows switching between Today, Poems, and Poets screens</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6225550"/>
                  </a:ext>
                </a:extLst>
              </a:tr>
              <a:tr h="397762">
                <a:tc>
                  <a:txBody>
                    <a:bodyPr/>
                    <a:lstStyle/>
                    <a:p>
                      <a:pPr fontAlgn="t">
                        <a:buNone/>
                      </a:pPr>
                      <a:r>
                        <a:rPr lang="en-IN" sz="1200" b="1">
                          <a:effectLst/>
                        </a:rPr>
                        <a:t>AlertDialog</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200" b="1">
                          <a:effectLst/>
                        </a:rPr>
                        <a:t>Shows difficult word meanings in popup form</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0309047"/>
                  </a:ext>
                </a:extLst>
              </a:tr>
              <a:tr h="576755">
                <a:tc>
                  <a:txBody>
                    <a:bodyPr/>
                    <a:lstStyle/>
                    <a:p>
                      <a:pPr fontAlgn="t">
                        <a:buNone/>
                      </a:pPr>
                      <a:r>
                        <a:rPr lang="en-IN" sz="1200" b="1">
                          <a:effectLst/>
                        </a:rPr>
                        <a:t>Compose State</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200" b="1">
                          <a:effectLst/>
                        </a:rPr>
                        <a:t>Updates UI when poem, selected word, or audio state changes</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1327925"/>
                  </a:ext>
                </a:extLst>
              </a:tr>
              <a:tr h="397762">
                <a:tc>
                  <a:txBody>
                    <a:bodyPr/>
                    <a:lstStyle/>
                    <a:p>
                      <a:pPr fontAlgn="t">
                        <a:buNone/>
                      </a:pPr>
                      <a:r>
                        <a:rPr lang="en-IN" sz="1200" b="1">
                          <a:effectLst/>
                        </a:rPr>
                        <a:t>LazyColumn</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200" b="1">
                          <a:effectLst/>
                        </a:rPr>
                        <a:t>Displays scrollable poem and poet lists</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2899605"/>
                  </a:ext>
                </a:extLst>
              </a:tr>
              <a:tr h="397762">
                <a:tc>
                  <a:txBody>
                    <a:bodyPr/>
                    <a:lstStyle/>
                    <a:p>
                      <a:pPr fontAlgn="t">
                        <a:buNone/>
                      </a:pPr>
                      <a:r>
                        <a:rPr lang="en-IN" sz="1200" b="1">
                          <a:effectLst/>
                        </a:rPr>
                        <a:t>Card UI</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200" b="1">
                          <a:effectLst/>
                        </a:rPr>
                        <a:t>Shows poem content in a clean book-like layout</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5749358"/>
                  </a:ext>
                </a:extLst>
              </a:tr>
              <a:tr h="576755">
                <a:tc>
                  <a:txBody>
                    <a:bodyPr/>
                    <a:lstStyle/>
                    <a:p>
                      <a:pPr fontAlgn="t">
                        <a:buNone/>
                      </a:pPr>
                      <a:r>
                        <a:rPr lang="en-IN" sz="1200" b="1">
                          <a:effectLst/>
                        </a:rPr>
                        <a:t>Icons Extended</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200" b="1">
                          <a:effectLst/>
                        </a:rPr>
                        <a:t>Provides icons for Today, Poems, Poets, Play, and Pause</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725702"/>
                  </a:ext>
                </a:extLst>
              </a:tr>
              <a:tr h="397762">
                <a:tc>
                  <a:txBody>
                    <a:bodyPr/>
                    <a:lstStyle/>
                    <a:p>
                      <a:pPr fontAlgn="t">
                        <a:buNone/>
                      </a:pPr>
                      <a:r>
                        <a:rPr lang="en-IN" sz="1200" b="1">
                          <a:effectLst/>
                        </a:rPr>
                        <a:t>Android Emulator</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200" b="1" dirty="0">
                          <a:effectLst/>
                        </a:rPr>
                        <a:t>Used to test the app before installing on a real phone</a:t>
                      </a:r>
                    </a:p>
                  </a:txBody>
                  <a:tcPr marL="17617" marR="17617" marT="17617" marB="176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2609725"/>
                  </a:ext>
                </a:extLst>
              </a:tr>
            </a:tbl>
          </a:graphicData>
        </a:graphic>
      </p:graphicFrame>
    </p:spTree>
    <p:extLst>
      <p:ext uri="{BB962C8B-B14F-4D97-AF65-F5344CB8AC3E}">
        <p14:creationId xmlns:p14="http://schemas.microsoft.com/office/powerpoint/2010/main" val="754194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0B91B76-65B7-4D65-BD3E-5C18DC3E831A}"/>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4416C3F9-6BD2-4B6E-BB4E-071B840DEBEE}"/>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8126B6EF-4926-4867-86F1-88B81E0ADC4D}"/>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4" name="kicker-marker">
            <a:extLst>
              <a:ext uri="{FF2B5EF4-FFF2-40B4-BE49-F238E27FC236}">
                <a16:creationId xmlns:a16="http://schemas.microsoft.com/office/drawing/2014/main" id="{07CA4C15-553C-4C21-80AE-C15B50251241}"/>
              </a:ext>
            </a:extLst>
          </p:cNvPr>
          <p:cNvSpPr>
            <a:spLocks noGrp="1"/>
          </p:cNvSpPr>
          <p:nvPr/>
        </p:nvSpPr>
        <p:spPr>
          <a:xfrm>
            <a:off x="609600" y="547688"/>
            <a:ext cx="285750" cy="28575"/>
          </a:xfrm>
          <a:prstGeom prst="rect">
            <a:avLst/>
          </a:prstGeom>
          <a:solidFill>
            <a:srgbClr val="D5A14B"/>
          </a:solidFill>
          <a:ln w="0">
            <a:solidFill>
              <a:srgbClr val="000000">
                <a:alpha val="0"/>
              </a:srgbClr>
            </a:solidFill>
            <a:prstDash val="solid"/>
          </a:ln>
        </p:spPr>
      </p:sp>
      <p:sp>
        <p:nvSpPr>
          <p:cNvPr id="5" name="kicker-label">
            <a:extLst>
              <a:ext uri="{FF2B5EF4-FFF2-40B4-BE49-F238E27FC236}">
                <a16:creationId xmlns:a16="http://schemas.microsoft.com/office/drawing/2014/main" id="{EAEED3FE-7470-4487-9B26-F89F1276C667}"/>
              </a:ext>
            </a:extLst>
          </p:cNvPr>
          <p:cNvSpPr>
            <a:spLocks noGrp="1"/>
          </p:cNvSpPr>
          <p:nvPr/>
        </p:nvSpPr>
        <p:spPr>
          <a:xfrm>
            <a:off x="1009650" y="4572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8F3E2F"/>
                </a:solidFill>
                <a:latin typeface="Aptos"/>
                <a:ea typeface="Aptos"/>
                <a:cs typeface="Aptos"/>
              </a:defRPr>
            </a:pPr>
            <a:r>
              <a:rPr sz="900" b="1">
                <a:solidFill>
                  <a:srgbClr val="8F3E2F"/>
                </a:solidFill>
                <a:latin typeface="Aptos"/>
                <a:ea typeface="Aptos"/>
                <a:cs typeface="Aptos"/>
              </a:rPr>
              <a:t>DAILY POEM LOGIC</a:t>
            </a:r>
          </a:p>
        </p:txBody>
      </p:sp>
      <p:sp>
        <p:nvSpPr>
          <p:cNvPr id="6" name="Rectangle 5">
            <a:extLst>
              <a:ext uri="{FF2B5EF4-FFF2-40B4-BE49-F238E27FC236}">
                <a16:creationId xmlns:a16="http://schemas.microsoft.com/office/drawing/2014/main" id="{5A65D488-F73F-4864-B744-983B7710161C}"/>
              </a:ext>
            </a:extLst>
          </p:cNvPr>
          <p:cNvSpPr>
            <a:spLocks noGrp="1"/>
          </p:cNvSpPr>
          <p:nvPr/>
        </p:nvSpPr>
        <p:spPr>
          <a:xfrm>
            <a:off x="609600" y="723900"/>
            <a:ext cx="7810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2D211A"/>
                </a:solidFill>
                <a:latin typeface="Aptos Display"/>
                <a:ea typeface="Aptos Display"/>
                <a:cs typeface="Aptos Display"/>
              </a:defRPr>
            </a:pPr>
            <a:r>
              <a:rPr sz="2550" b="1">
                <a:solidFill>
                  <a:srgbClr val="2D211A"/>
                </a:solidFill>
                <a:latin typeface="Aptos Display"/>
                <a:ea typeface="Aptos Display"/>
                <a:cs typeface="Aptos Display"/>
              </a:rPr>
              <a:t>The Poem of the Day changes automatically using today’s date.</a:t>
            </a:r>
          </a:p>
        </p:txBody>
      </p:sp>
      <p:sp>
        <p:nvSpPr>
          <p:cNvPr id="7" name="Rectangle 6">
            <a:extLst>
              <a:ext uri="{FF2B5EF4-FFF2-40B4-BE49-F238E27FC236}">
                <a16:creationId xmlns:a16="http://schemas.microsoft.com/office/drawing/2014/main" id="{09115E98-DEE3-4AD6-B339-BD83BD62A4CE}"/>
              </a:ext>
            </a:extLst>
          </p:cNvPr>
          <p:cNvSpPr>
            <a:spLocks noGrp="1"/>
          </p:cNvSpPr>
          <p:nvPr/>
        </p:nvSpPr>
        <p:spPr>
          <a:xfrm>
            <a:off x="838200" y="2324100"/>
            <a:ext cx="4857750" cy="2133600"/>
          </a:xfrm>
          <a:prstGeom prst="rect">
            <a:avLst/>
          </a:prstGeom>
          <a:solidFill>
            <a:srgbClr val="FFFDF6"/>
          </a:solidFill>
          <a:ln w="9525">
            <a:solidFill>
              <a:srgbClr val="F3E6CF"/>
            </a:solidFill>
            <a:prstDash val="solid"/>
          </a:ln>
        </p:spPr>
      </p:sp>
      <p:sp>
        <p:nvSpPr>
          <p:cNvPr id="8" name="Rectangle 7">
            <a:extLst>
              <a:ext uri="{FF2B5EF4-FFF2-40B4-BE49-F238E27FC236}">
                <a16:creationId xmlns:a16="http://schemas.microsoft.com/office/drawing/2014/main" id="{9D760752-0E0B-4F58-AF98-B674C83D80B1}"/>
              </a:ext>
            </a:extLst>
          </p:cNvPr>
          <p:cNvSpPr>
            <a:spLocks noGrp="1"/>
          </p:cNvSpPr>
          <p:nvPr/>
        </p:nvSpPr>
        <p:spPr>
          <a:xfrm>
            <a:off x="1143000" y="2609850"/>
            <a:ext cx="1524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8F3E2F"/>
                </a:solidFill>
                <a:latin typeface="Aptos"/>
                <a:ea typeface="Aptos"/>
                <a:cs typeface="Aptos"/>
              </a:defRPr>
            </a:pPr>
            <a:r>
              <a:rPr sz="1050" b="1">
                <a:solidFill>
                  <a:srgbClr val="8F3E2F"/>
                </a:solidFill>
                <a:latin typeface="Aptos"/>
                <a:ea typeface="Aptos"/>
                <a:cs typeface="Aptos"/>
              </a:rPr>
              <a:t>Kotlin Logic</a:t>
            </a:r>
          </a:p>
        </p:txBody>
      </p:sp>
      <p:sp>
        <p:nvSpPr>
          <p:cNvPr id="9" name="Rectangle 8">
            <a:extLst>
              <a:ext uri="{FF2B5EF4-FFF2-40B4-BE49-F238E27FC236}">
                <a16:creationId xmlns:a16="http://schemas.microsoft.com/office/drawing/2014/main" id="{DB96CD54-CF33-4A0F-9C28-189740C0F8B0}"/>
              </a:ext>
            </a:extLst>
          </p:cNvPr>
          <p:cNvSpPr>
            <a:spLocks noGrp="1"/>
          </p:cNvSpPr>
          <p:nvPr/>
        </p:nvSpPr>
        <p:spPr>
          <a:xfrm>
            <a:off x="1143000" y="3105150"/>
            <a:ext cx="4000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2D211A"/>
                </a:solidFill>
                <a:latin typeface="Aptos Mono"/>
                <a:ea typeface="Aptos Mono"/>
                <a:cs typeface="Aptos Mono"/>
              </a:defRPr>
            </a:pPr>
            <a:r>
              <a:rPr sz="1650" b="1">
                <a:solidFill>
                  <a:srgbClr val="2D211A"/>
                </a:solidFill>
                <a:latin typeface="Aptos Mono"/>
                <a:ea typeface="Aptos Mono"/>
                <a:cs typeface="Aptos Mono"/>
              </a:rPr>
              <a:t>val day = LocalDate.now().dayOfYear</a:t>
            </a:r>
          </a:p>
          <a:p>
            <a:pPr algn="l">
              <a:defRPr sz="1650" b="1">
                <a:solidFill>
                  <a:srgbClr val="2D211A"/>
                </a:solidFill>
                <a:latin typeface="Aptos Mono"/>
                <a:ea typeface="Aptos Mono"/>
                <a:cs typeface="Aptos Mono"/>
              </a:defRPr>
            </a:pPr>
            <a:r>
              <a:rPr sz="1650" b="1">
                <a:solidFill>
                  <a:srgbClr val="2D211A"/>
                </a:solidFill>
                <a:latin typeface="Aptos Mono"/>
                <a:ea typeface="Aptos Mono"/>
                <a:cs typeface="Aptos Mono"/>
              </a:rPr>
              <a:t>val poem = poems[(day - 1) % poems.size]</a:t>
            </a:r>
          </a:p>
        </p:txBody>
      </p:sp>
      <p:sp>
        <p:nvSpPr>
          <p:cNvPr id="10" name="Rectangle 9">
            <a:extLst>
              <a:ext uri="{FF2B5EF4-FFF2-40B4-BE49-F238E27FC236}">
                <a16:creationId xmlns:a16="http://schemas.microsoft.com/office/drawing/2014/main" id="{E1861722-832C-495C-B6E0-95008E9B1374}"/>
              </a:ext>
            </a:extLst>
          </p:cNvPr>
          <p:cNvSpPr>
            <a:spLocks noGrp="1"/>
          </p:cNvSpPr>
          <p:nvPr/>
        </p:nvSpPr>
        <p:spPr>
          <a:xfrm>
            <a:off x="6477000" y="2800350"/>
            <a:ext cx="704850" cy="514350"/>
          </a:xfrm>
          <a:prstGeom prst="rect">
            <a:avLst/>
          </a:prstGeom>
          <a:solidFill>
            <a:srgbClr val="E4EEF4"/>
          </a:solidFill>
          <a:ln w="9525">
            <a:solidFill>
              <a:srgbClr val="000000">
                <a:alpha val="0"/>
              </a:srgbClr>
            </a:solidFill>
            <a:prstDash val="solid"/>
          </a:ln>
        </p:spPr>
      </p:sp>
      <p:sp>
        <p:nvSpPr>
          <p:cNvPr id="11" name="Rectangle 10">
            <a:extLst>
              <a:ext uri="{FF2B5EF4-FFF2-40B4-BE49-F238E27FC236}">
                <a16:creationId xmlns:a16="http://schemas.microsoft.com/office/drawing/2014/main" id="{DC0DA44F-49F1-44A2-81FD-571A4BE47B10}"/>
              </a:ext>
            </a:extLst>
          </p:cNvPr>
          <p:cNvSpPr>
            <a:spLocks noGrp="1"/>
          </p:cNvSpPr>
          <p:nvPr/>
        </p:nvSpPr>
        <p:spPr>
          <a:xfrm>
            <a:off x="6610350" y="2914650"/>
            <a:ext cx="43815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75" b="1">
                <a:solidFill>
                  <a:srgbClr val="2D211A"/>
                </a:solidFill>
                <a:latin typeface="Aptos"/>
                <a:ea typeface="Aptos"/>
                <a:cs typeface="Aptos"/>
              </a:defRPr>
            </a:pPr>
            <a:r>
              <a:rPr sz="975" b="1">
                <a:solidFill>
                  <a:srgbClr val="2D211A"/>
                </a:solidFill>
                <a:latin typeface="Aptos"/>
                <a:ea typeface="Aptos"/>
                <a:cs typeface="Aptos"/>
              </a:rPr>
              <a:t>Day 1</a:t>
            </a:r>
          </a:p>
        </p:txBody>
      </p:sp>
      <p:sp>
        <p:nvSpPr>
          <p:cNvPr id="12" name="Rectangle 11">
            <a:extLst>
              <a:ext uri="{FF2B5EF4-FFF2-40B4-BE49-F238E27FC236}">
                <a16:creationId xmlns:a16="http://schemas.microsoft.com/office/drawing/2014/main" id="{4793CDB0-0F29-480E-8C9E-3F38BE3B79A0}"/>
              </a:ext>
            </a:extLst>
          </p:cNvPr>
          <p:cNvSpPr>
            <a:spLocks noGrp="1"/>
          </p:cNvSpPr>
          <p:nvPr/>
        </p:nvSpPr>
        <p:spPr>
          <a:xfrm>
            <a:off x="7258050" y="3028950"/>
            <a:ext cx="209550" cy="38100"/>
          </a:xfrm>
          <a:prstGeom prst="rect">
            <a:avLst/>
          </a:prstGeom>
          <a:solidFill>
            <a:srgbClr val="D5A14B"/>
          </a:solidFill>
          <a:ln w="0">
            <a:solidFill>
              <a:srgbClr val="000000">
                <a:alpha val="0"/>
              </a:srgbClr>
            </a:solidFill>
            <a:prstDash val="solid"/>
          </a:ln>
        </p:spPr>
      </p:sp>
      <p:sp>
        <p:nvSpPr>
          <p:cNvPr id="13" name="Rectangle 12">
            <a:extLst>
              <a:ext uri="{FF2B5EF4-FFF2-40B4-BE49-F238E27FC236}">
                <a16:creationId xmlns:a16="http://schemas.microsoft.com/office/drawing/2014/main" id="{59241F83-0FF1-4771-BA82-9781B308EDDE}"/>
              </a:ext>
            </a:extLst>
          </p:cNvPr>
          <p:cNvSpPr>
            <a:spLocks noGrp="1"/>
          </p:cNvSpPr>
          <p:nvPr/>
        </p:nvSpPr>
        <p:spPr>
          <a:xfrm>
            <a:off x="7372350" y="2800350"/>
            <a:ext cx="704850" cy="514350"/>
          </a:xfrm>
          <a:prstGeom prst="rect">
            <a:avLst/>
          </a:prstGeom>
          <a:solidFill>
            <a:srgbClr val="E4EFE8"/>
          </a:solidFill>
          <a:ln w="9525">
            <a:solidFill>
              <a:srgbClr val="000000">
                <a:alpha val="0"/>
              </a:srgbClr>
            </a:solidFill>
            <a:prstDash val="solid"/>
          </a:ln>
        </p:spPr>
      </p:sp>
      <p:sp>
        <p:nvSpPr>
          <p:cNvPr id="14" name="Rectangle 13">
            <a:extLst>
              <a:ext uri="{FF2B5EF4-FFF2-40B4-BE49-F238E27FC236}">
                <a16:creationId xmlns:a16="http://schemas.microsoft.com/office/drawing/2014/main" id="{B7132F92-76C5-4CFC-9DB9-B685E55E19D9}"/>
              </a:ext>
            </a:extLst>
          </p:cNvPr>
          <p:cNvSpPr>
            <a:spLocks noGrp="1"/>
          </p:cNvSpPr>
          <p:nvPr/>
        </p:nvSpPr>
        <p:spPr>
          <a:xfrm>
            <a:off x="7505700" y="2914650"/>
            <a:ext cx="43815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75" b="1">
                <a:solidFill>
                  <a:srgbClr val="2D211A"/>
                </a:solidFill>
                <a:latin typeface="Aptos"/>
                <a:ea typeface="Aptos"/>
                <a:cs typeface="Aptos"/>
              </a:defRPr>
            </a:pPr>
            <a:r>
              <a:rPr sz="975" b="1">
                <a:solidFill>
                  <a:srgbClr val="2D211A"/>
                </a:solidFill>
                <a:latin typeface="Aptos"/>
                <a:ea typeface="Aptos"/>
                <a:cs typeface="Aptos"/>
              </a:rPr>
              <a:t>Day 2</a:t>
            </a:r>
          </a:p>
        </p:txBody>
      </p:sp>
      <p:sp>
        <p:nvSpPr>
          <p:cNvPr id="15" name="Rectangle 14">
            <a:extLst>
              <a:ext uri="{FF2B5EF4-FFF2-40B4-BE49-F238E27FC236}">
                <a16:creationId xmlns:a16="http://schemas.microsoft.com/office/drawing/2014/main" id="{E066D18E-BA9D-4F1B-9901-035599DBA0C0}"/>
              </a:ext>
            </a:extLst>
          </p:cNvPr>
          <p:cNvSpPr>
            <a:spLocks noGrp="1"/>
          </p:cNvSpPr>
          <p:nvPr/>
        </p:nvSpPr>
        <p:spPr>
          <a:xfrm>
            <a:off x="8153400" y="3028950"/>
            <a:ext cx="209550" cy="38100"/>
          </a:xfrm>
          <a:prstGeom prst="rect">
            <a:avLst/>
          </a:prstGeom>
          <a:solidFill>
            <a:srgbClr val="D5A14B"/>
          </a:solidFill>
          <a:ln w="0">
            <a:solidFill>
              <a:srgbClr val="000000">
                <a:alpha val="0"/>
              </a:srgbClr>
            </a:solidFill>
            <a:prstDash val="solid"/>
          </a:ln>
        </p:spPr>
      </p:sp>
      <p:sp>
        <p:nvSpPr>
          <p:cNvPr id="16" name="Rectangle 15">
            <a:extLst>
              <a:ext uri="{FF2B5EF4-FFF2-40B4-BE49-F238E27FC236}">
                <a16:creationId xmlns:a16="http://schemas.microsoft.com/office/drawing/2014/main" id="{5A7F2565-C8A1-4820-9DE6-1DB37900EBC7}"/>
              </a:ext>
            </a:extLst>
          </p:cNvPr>
          <p:cNvSpPr>
            <a:spLocks noGrp="1"/>
          </p:cNvSpPr>
          <p:nvPr/>
        </p:nvSpPr>
        <p:spPr>
          <a:xfrm>
            <a:off x="8267700" y="2800350"/>
            <a:ext cx="704850" cy="514350"/>
          </a:xfrm>
          <a:prstGeom prst="rect">
            <a:avLst/>
          </a:prstGeom>
          <a:solidFill>
            <a:srgbClr val="E4EEF4"/>
          </a:solidFill>
          <a:ln w="9525">
            <a:solidFill>
              <a:srgbClr val="000000">
                <a:alpha val="0"/>
              </a:srgbClr>
            </a:solidFill>
            <a:prstDash val="solid"/>
          </a:ln>
        </p:spPr>
      </p:sp>
      <p:sp>
        <p:nvSpPr>
          <p:cNvPr id="17" name="Rectangle 16">
            <a:extLst>
              <a:ext uri="{FF2B5EF4-FFF2-40B4-BE49-F238E27FC236}">
                <a16:creationId xmlns:a16="http://schemas.microsoft.com/office/drawing/2014/main" id="{0709BAA6-23D0-4701-B10E-4E5885507FDE}"/>
              </a:ext>
            </a:extLst>
          </p:cNvPr>
          <p:cNvSpPr>
            <a:spLocks noGrp="1"/>
          </p:cNvSpPr>
          <p:nvPr/>
        </p:nvSpPr>
        <p:spPr>
          <a:xfrm>
            <a:off x="8401050" y="2914650"/>
            <a:ext cx="43815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75" b="1">
                <a:solidFill>
                  <a:srgbClr val="2D211A"/>
                </a:solidFill>
                <a:latin typeface="Aptos"/>
                <a:ea typeface="Aptos"/>
                <a:cs typeface="Aptos"/>
              </a:defRPr>
            </a:pPr>
            <a:r>
              <a:rPr sz="975" b="1">
                <a:solidFill>
                  <a:srgbClr val="2D211A"/>
                </a:solidFill>
                <a:latin typeface="Aptos"/>
                <a:ea typeface="Aptos"/>
                <a:cs typeface="Aptos"/>
              </a:rPr>
              <a:t>Day 3</a:t>
            </a:r>
          </a:p>
        </p:txBody>
      </p:sp>
      <p:sp>
        <p:nvSpPr>
          <p:cNvPr id="18" name="Rectangle 17">
            <a:extLst>
              <a:ext uri="{FF2B5EF4-FFF2-40B4-BE49-F238E27FC236}">
                <a16:creationId xmlns:a16="http://schemas.microsoft.com/office/drawing/2014/main" id="{AB1C5959-542A-41F6-9338-F6E447E5D12F}"/>
              </a:ext>
            </a:extLst>
          </p:cNvPr>
          <p:cNvSpPr>
            <a:spLocks noGrp="1"/>
          </p:cNvSpPr>
          <p:nvPr/>
        </p:nvSpPr>
        <p:spPr>
          <a:xfrm>
            <a:off x="9048750" y="3028950"/>
            <a:ext cx="209550" cy="38100"/>
          </a:xfrm>
          <a:prstGeom prst="rect">
            <a:avLst/>
          </a:prstGeom>
          <a:solidFill>
            <a:srgbClr val="D5A14B"/>
          </a:solidFill>
          <a:ln w="0">
            <a:solidFill>
              <a:srgbClr val="000000">
                <a:alpha val="0"/>
              </a:srgbClr>
            </a:solidFill>
            <a:prstDash val="solid"/>
          </a:ln>
        </p:spPr>
      </p:sp>
      <p:sp>
        <p:nvSpPr>
          <p:cNvPr id="19" name="Rectangle 18">
            <a:extLst>
              <a:ext uri="{FF2B5EF4-FFF2-40B4-BE49-F238E27FC236}">
                <a16:creationId xmlns:a16="http://schemas.microsoft.com/office/drawing/2014/main" id="{C81CB65D-A176-4215-B28B-256D64E059A3}"/>
              </a:ext>
            </a:extLst>
          </p:cNvPr>
          <p:cNvSpPr>
            <a:spLocks noGrp="1"/>
          </p:cNvSpPr>
          <p:nvPr/>
        </p:nvSpPr>
        <p:spPr>
          <a:xfrm>
            <a:off x="9163050" y="2800350"/>
            <a:ext cx="704850" cy="514350"/>
          </a:xfrm>
          <a:prstGeom prst="rect">
            <a:avLst/>
          </a:prstGeom>
          <a:solidFill>
            <a:srgbClr val="E4EFE8"/>
          </a:solidFill>
          <a:ln w="9525">
            <a:solidFill>
              <a:srgbClr val="000000">
                <a:alpha val="0"/>
              </a:srgbClr>
            </a:solidFill>
            <a:prstDash val="solid"/>
          </a:ln>
        </p:spPr>
      </p:sp>
      <p:sp>
        <p:nvSpPr>
          <p:cNvPr id="20" name="Rectangle 19">
            <a:extLst>
              <a:ext uri="{FF2B5EF4-FFF2-40B4-BE49-F238E27FC236}">
                <a16:creationId xmlns:a16="http://schemas.microsoft.com/office/drawing/2014/main" id="{D1F6C89F-720D-4CFA-B013-1397A390B4F5}"/>
              </a:ext>
            </a:extLst>
          </p:cNvPr>
          <p:cNvSpPr>
            <a:spLocks noGrp="1"/>
          </p:cNvSpPr>
          <p:nvPr/>
        </p:nvSpPr>
        <p:spPr>
          <a:xfrm>
            <a:off x="9296400" y="2914650"/>
            <a:ext cx="43815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75" b="1">
                <a:solidFill>
                  <a:srgbClr val="2D211A"/>
                </a:solidFill>
                <a:latin typeface="Aptos"/>
                <a:ea typeface="Aptos"/>
                <a:cs typeface="Aptos"/>
              </a:defRPr>
            </a:pPr>
            <a:r>
              <a:rPr sz="975" b="1">
                <a:solidFill>
                  <a:srgbClr val="2D211A"/>
                </a:solidFill>
                <a:latin typeface="Aptos"/>
                <a:ea typeface="Aptos"/>
                <a:cs typeface="Aptos"/>
              </a:rPr>
              <a:t>...</a:t>
            </a:r>
          </a:p>
        </p:txBody>
      </p:sp>
      <p:sp>
        <p:nvSpPr>
          <p:cNvPr id="21" name="Rectangle 20">
            <a:extLst>
              <a:ext uri="{FF2B5EF4-FFF2-40B4-BE49-F238E27FC236}">
                <a16:creationId xmlns:a16="http://schemas.microsoft.com/office/drawing/2014/main" id="{B78C4866-F746-47B2-8679-83AA50FEB657}"/>
              </a:ext>
            </a:extLst>
          </p:cNvPr>
          <p:cNvSpPr>
            <a:spLocks noGrp="1"/>
          </p:cNvSpPr>
          <p:nvPr/>
        </p:nvSpPr>
        <p:spPr>
          <a:xfrm>
            <a:off x="9944100" y="3028950"/>
            <a:ext cx="209550" cy="38100"/>
          </a:xfrm>
          <a:prstGeom prst="rect">
            <a:avLst/>
          </a:prstGeom>
          <a:solidFill>
            <a:srgbClr val="D5A14B"/>
          </a:solidFill>
          <a:ln w="0">
            <a:solidFill>
              <a:srgbClr val="000000">
                <a:alpha val="0"/>
              </a:srgbClr>
            </a:solidFill>
            <a:prstDash val="solid"/>
          </a:ln>
        </p:spPr>
      </p:sp>
      <p:sp>
        <p:nvSpPr>
          <p:cNvPr id="22" name="Rectangle 21">
            <a:extLst>
              <a:ext uri="{FF2B5EF4-FFF2-40B4-BE49-F238E27FC236}">
                <a16:creationId xmlns:a16="http://schemas.microsoft.com/office/drawing/2014/main" id="{7EC577CA-9DCC-488C-81E2-E888E030DC99}"/>
              </a:ext>
            </a:extLst>
          </p:cNvPr>
          <p:cNvSpPr>
            <a:spLocks noGrp="1"/>
          </p:cNvSpPr>
          <p:nvPr/>
        </p:nvSpPr>
        <p:spPr>
          <a:xfrm>
            <a:off x="10058400" y="2800350"/>
            <a:ext cx="704850" cy="514350"/>
          </a:xfrm>
          <a:prstGeom prst="rect">
            <a:avLst/>
          </a:prstGeom>
          <a:solidFill>
            <a:srgbClr val="E4EEF4"/>
          </a:solidFill>
          <a:ln w="9525">
            <a:solidFill>
              <a:srgbClr val="000000">
                <a:alpha val="0"/>
              </a:srgbClr>
            </a:solidFill>
            <a:prstDash val="solid"/>
          </a:ln>
        </p:spPr>
      </p:sp>
      <p:sp>
        <p:nvSpPr>
          <p:cNvPr id="23" name="Rectangle 22">
            <a:extLst>
              <a:ext uri="{FF2B5EF4-FFF2-40B4-BE49-F238E27FC236}">
                <a16:creationId xmlns:a16="http://schemas.microsoft.com/office/drawing/2014/main" id="{1F809A4A-236A-427F-8716-FF8847EED346}"/>
              </a:ext>
            </a:extLst>
          </p:cNvPr>
          <p:cNvSpPr>
            <a:spLocks noGrp="1"/>
          </p:cNvSpPr>
          <p:nvPr/>
        </p:nvSpPr>
        <p:spPr>
          <a:xfrm>
            <a:off x="10191750" y="2914650"/>
            <a:ext cx="43815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75" b="1">
                <a:solidFill>
                  <a:srgbClr val="2D211A"/>
                </a:solidFill>
                <a:latin typeface="Aptos"/>
                <a:ea typeface="Aptos"/>
                <a:cs typeface="Aptos"/>
              </a:defRPr>
            </a:pPr>
            <a:r>
              <a:rPr sz="975" b="1">
                <a:solidFill>
                  <a:srgbClr val="2D211A"/>
                </a:solidFill>
                <a:latin typeface="Aptos"/>
                <a:ea typeface="Aptos"/>
                <a:cs typeface="Aptos"/>
              </a:rPr>
              <a:t>Day 52</a:t>
            </a:r>
          </a:p>
        </p:txBody>
      </p:sp>
      <p:sp>
        <p:nvSpPr>
          <p:cNvPr id="24" name="Rectangle 23">
            <a:extLst>
              <a:ext uri="{FF2B5EF4-FFF2-40B4-BE49-F238E27FC236}">
                <a16:creationId xmlns:a16="http://schemas.microsoft.com/office/drawing/2014/main" id="{9CE1E3BD-5971-4E2F-B695-92EDC26D4707}"/>
              </a:ext>
            </a:extLst>
          </p:cNvPr>
          <p:cNvSpPr>
            <a:spLocks noGrp="1"/>
          </p:cNvSpPr>
          <p:nvPr/>
        </p:nvSpPr>
        <p:spPr>
          <a:xfrm>
            <a:off x="6572250" y="3733800"/>
            <a:ext cx="37147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6B5C4E"/>
                </a:solidFill>
                <a:latin typeface="Aptos"/>
                <a:ea typeface="Aptos"/>
                <a:cs typeface="Aptos"/>
              </a:defRPr>
            </a:pPr>
            <a:r>
              <a:rPr sz="1275" b="0">
                <a:solidFill>
                  <a:srgbClr val="6B5C4E"/>
                </a:solidFill>
                <a:latin typeface="Aptos"/>
                <a:ea typeface="Aptos"/>
                <a:cs typeface="Aptos"/>
              </a:rPr>
              <a:t>After poem 52, the modulo calculation cycles back to the start.</a:t>
            </a:r>
          </a:p>
        </p:txBody>
      </p:sp>
      <p:sp>
        <p:nvSpPr>
          <p:cNvPr id="25" name="Rectangle 24">
            <a:extLst>
              <a:ext uri="{FF2B5EF4-FFF2-40B4-BE49-F238E27FC236}">
                <a16:creationId xmlns:a16="http://schemas.microsoft.com/office/drawing/2014/main" id="{92241987-B56A-41F7-A8BB-763CCEDE0C4C}"/>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26" name="Rectangle 25">
            <a:extLst>
              <a:ext uri="{FF2B5EF4-FFF2-40B4-BE49-F238E27FC236}">
                <a16:creationId xmlns:a16="http://schemas.microsoft.com/office/drawing/2014/main" id="{A83D3D26-560B-47AE-9EB9-1391092B9219}"/>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07</a:t>
            </a:r>
          </a:p>
        </p:txBody>
      </p:sp>
      <p:sp>
        <p:nvSpPr>
          <p:cNvPr id="27" name="Rectangle 26">
            <a:extLst>
              <a:ext uri="{FF2B5EF4-FFF2-40B4-BE49-F238E27FC236}">
                <a16:creationId xmlns:a16="http://schemas.microsoft.com/office/drawing/2014/main" id="{8746C142-77A6-4869-A239-5AE36131CAC0}"/>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spTree>
    <p:extLst>
      <p:ext uri="{BB962C8B-B14F-4D97-AF65-F5344CB8AC3E}">
        <p14:creationId xmlns:p14="http://schemas.microsoft.com/office/powerpoint/2010/main" val="993333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F28E595-5533-42B3-AD60-48F3D5285EFD}"/>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6193600A-615A-4868-9B61-BD8FCEFC3FC4}"/>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3445F8B0-F42D-4065-AB5E-F1007325DAA0}"/>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4" name="kicker-marker">
            <a:extLst>
              <a:ext uri="{FF2B5EF4-FFF2-40B4-BE49-F238E27FC236}">
                <a16:creationId xmlns:a16="http://schemas.microsoft.com/office/drawing/2014/main" id="{90DE3469-03A0-46CE-A7CF-CFDC84C540C9}"/>
              </a:ext>
            </a:extLst>
          </p:cNvPr>
          <p:cNvSpPr>
            <a:spLocks noGrp="1"/>
          </p:cNvSpPr>
          <p:nvPr/>
        </p:nvSpPr>
        <p:spPr>
          <a:xfrm>
            <a:off x="609600" y="547688"/>
            <a:ext cx="285750" cy="28575"/>
          </a:xfrm>
          <a:prstGeom prst="rect">
            <a:avLst/>
          </a:prstGeom>
          <a:solidFill>
            <a:srgbClr val="D5A14B"/>
          </a:solidFill>
          <a:ln w="0">
            <a:solidFill>
              <a:srgbClr val="000000">
                <a:alpha val="0"/>
              </a:srgbClr>
            </a:solidFill>
            <a:prstDash val="solid"/>
          </a:ln>
        </p:spPr>
      </p:sp>
      <p:sp>
        <p:nvSpPr>
          <p:cNvPr id="5" name="kicker-label">
            <a:extLst>
              <a:ext uri="{FF2B5EF4-FFF2-40B4-BE49-F238E27FC236}">
                <a16:creationId xmlns:a16="http://schemas.microsoft.com/office/drawing/2014/main" id="{8533490A-0660-45E4-BBD4-1195ED21D22C}"/>
              </a:ext>
            </a:extLst>
          </p:cNvPr>
          <p:cNvSpPr>
            <a:spLocks noGrp="1"/>
          </p:cNvSpPr>
          <p:nvPr/>
        </p:nvSpPr>
        <p:spPr>
          <a:xfrm>
            <a:off x="1009650" y="4572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8F3E2F"/>
                </a:solidFill>
                <a:latin typeface="Aptos"/>
                <a:ea typeface="Aptos"/>
                <a:cs typeface="Aptos"/>
              </a:defRPr>
            </a:pPr>
            <a:r>
              <a:rPr sz="900" b="1">
                <a:solidFill>
                  <a:srgbClr val="8F3E2F"/>
                </a:solidFill>
                <a:latin typeface="Aptos"/>
                <a:ea typeface="Aptos"/>
                <a:cs typeface="Aptos"/>
              </a:rPr>
              <a:t>WORD MEANINGS</a:t>
            </a:r>
          </a:p>
        </p:txBody>
      </p:sp>
      <p:sp>
        <p:nvSpPr>
          <p:cNvPr id="6" name="Rectangle 5">
            <a:extLst>
              <a:ext uri="{FF2B5EF4-FFF2-40B4-BE49-F238E27FC236}">
                <a16:creationId xmlns:a16="http://schemas.microsoft.com/office/drawing/2014/main" id="{D67882FC-1690-4B90-AB11-2E1BE3006219}"/>
              </a:ext>
            </a:extLst>
          </p:cNvPr>
          <p:cNvSpPr>
            <a:spLocks noGrp="1"/>
          </p:cNvSpPr>
          <p:nvPr/>
        </p:nvSpPr>
        <p:spPr>
          <a:xfrm>
            <a:off x="609600" y="723900"/>
            <a:ext cx="7810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2D211A"/>
                </a:solidFill>
                <a:latin typeface="Aptos Display"/>
                <a:ea typeface="Aptos Display"/>
                <a:cs typeface="Aptos Display"/>
              </a:defRPr>
            </a:pPr>
            <a:r>
              <a:rPr sz="2550" b="1">
                <a:solidFill>
                  <a:srgbClr val="2D211A"/>
                </a:solidFill>
                <a:latin typeface="Aptos Display"/>
                <a:ea typeface="Aptos Display"/>
                <a:cs typeface="Aptos Display"/>
              </a:rPr>
              <a:t>Tappable words turn difficult poetry into guided reading.</a:t>
            </a:r>
          </a:p>
        </p:txBody>
      </p:sp>
      <p:sp>
        <p:nvSpPr>
          <p:cNvPr id="7" name="Rectangle 6">
            <a:extLst>
              <a:ext uri="{FF2B5EF4-FFF2-40B4-BE49-F238E27FC236}">
                <a16:creationId xmlns:a16="http://schemas.microsoft.com/office/drawing/2014/main" id="{C53BAAFA-193E-434F-9BB4-3B3AFDD2686B}"/>
              </a:ext>
            </a:extLst>
          </p:cNvPr>
          <p:cNvSpPr>
            <a:spLocks noGrp="1"/>
          </p:cNvSpPr>
          <p:nvPr/>
        </p:nvSpPr>
        <p:spPr>
          <a:xfrm>
            <a:off x="876300" y="2171700"/>
            <a:ext cx="4762500" cy="2857500"/>
          </a:xfrm>
          <a:prstGeom prst="rect">
            <a:avLst/>
          </a:prstGeom>
          <a:solidFill>
            <a:srgbClr val="FFFDF6"/>
          </a:solidFill>
          <a:ln w="9525">
            <a:solidFill>
              <a:srgbClr val="F3E6CF"/>
            </a:solidFill>
            <a:prstDash val="solid"/>
          </a:ln>
        </p:spPr>
      </p:sp>
      <p:sp>
        <p:nvSpPr>
          <p:cNvPr id="8" name="Rectangle 7">
            <a:extLst>
              <a:ext uri="{FF2B5EF4-FFF2-40B4-BE49-F238E27FC236}">
                <a16:creationId xmlns:a16="http://schemas.microsoft.com/office/drawing/2014/main" id="{EDC20E22-FDFC-4340-897C-3A0FB64880C1}"/>
              </a:ext>
            </a:extLst>
          </p:cNvPr>
          <p:cNvSpPr>
            <a:spLocks noGrp="1"/>
          </p:cNvSpPr>
          <p:nvPr/>
        </p:nvSpPr>
        <p:spPr>
          <a:xfrm>
            <a:off x="1257300" y="2724150"/>
            <a:ext cx="400050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2D211A"/>
                </a:solidFill>
                <a:latin typeface="Nirmala UI"/>
                <a:ea typeface="Nirmala UI"/>
                <a:cs typeface="Nirmala UI"/>
              </a:defRPr>
            </a:pPr>
            <a:r>
              <a:rPr sz="2100" b="1">
                <a:solidFill>
                  <a:srgbClr val="2D211A"/>
                </a:solidFill>
                <a:latin typeface="Nirmala UI"/>
                <a:ea typeface="Nirmala UI"/>
                <a:cs typeface="Nirmala UI"/>
              </a:rPr>
              <a:t>ನುಡಿಯ ಬೆಳಕು ಮನದಲಿ ಹೊಳೆಯಲಿ</a:t>
            </a:r>
          </a:p>
          <a:p>
            <a:pPr algn="ctr">
              <a:defRPr sz="2100" b="1">
                <a:solidFill>
                  <a:srgbClr val="2D211A"/>
                </a:solidFill>
                <a:latin typeface="Nirmala UI"/>
                <a:ea typeface="Nirmala UI"/>
                <a:cs typeface="Nirmala UI"/>
              </a:defRPr>
            </a:pPr>
            <a:r>
              <a:rPr sz="2100" b="1">
                <a:solidFill>
                  <a:srgbClr val="2D211A"/>
                </a:solidFill>
                <a:latin typeface="Nirmala UI"/>
                <a:ea typeface="Nirmala UI"/>
                <a:cs typeface="Nirmala UI"/>
              </a:rPr>
              <a:t>ಕನ್ನಡ ಕಿರಣ ಜಗದಲಿ ಹರಡಲಿ</a:t>
            </a:r>
          </a:p>
        </p:txBody>
      </p:sp>
      <p:sp>
        <p:nvSpPr>
          <p:cNvPr id="9" name="Rectangle 8">
            <a:extLst>
              <a:ext uri="{FF2B5EF4-FFF2-40B4-BE49-F238E27FC236}">
                <a16:creationId xmlns:a16="http://schemas.microsoft.com/office/drawing/2014/main" id="{915F922E-8D1F-4056-9181-6F3B4CDC4F67}"/>
              </a:ext>
            </a:extLst>
          </p:cNvPr>
          <p:cNvSpPr>
            <a:spLocks noGrp="1"/>
          </p:cNvSpPr>
          <p:nvPr/>
        </p:nvSpPr>
        <p:spPr>
          <a:xfrm>
            <a:off x="1638300" y="3781425"/>
            <a:ext cx="1066800" cy="381000"/>
          </a:xfrm>
          <a:prstGeom prst="rect">
            <a:avLst/>
          </a:prstGeom>
          <a:solidFill>
            <a:srgbClr val="F3E6CF"/>
          </a:solidFill>
          <a:ln w="9525">
            <a:solidFill>
              <a:srgbClr val="000000">
                <a:alpha val="0"/>
              </a:srgbClr>
            </a:solidFill>
            <a:prstDash val="solid"/>
          </a:ln>
        </p:spPr>
      </p:sp>
      <p:sp>
        <p:nvSpPr>
          <p:cNvPr id="10" name="Rectangle 9">
            <a:extLst>
              <a:ext uri="{FF2B5EF4-FFF2-40B4-BE49-F238E27FC236}">
                <a16:creationId xmlns:a16="http://schemas.microsoft.com/office/drawing/2014/main" id="{89A6F106-07A6-432D-A83E-DE99F6345A5C}"/>
              </a:ext>
            </a:extLst>
          </p:cNvPr>
          <p:cNvSpPr>
            <a:spLocks noGrp="1"/>
          </p:cNvSpPr>
          <p:nvPr/>
        </p:nvSpPr>
        <p:spPr>
          <a:xfrm>
            <a:off x="1752600" y="3810000"/>
            <a:ext cx="838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8F3E2F"/>
                </a:solidFill>
                <a:latin typeface="Nirmala UI"/>
                <a:ea typeface="Nirmala UI"/>
                <a:cs typeface="Nirmala UI"/>
              </a:defRPr>
            </a:pPr>
            <a:r>
              <a:rPr sz="1500" b="1">
                <a:solidFill>
                  <a:srgbClr val="8F3E2F"/>
                </a:solidFill>
                <a:latin typeface="Nirmala UI"/>
                <a:ea typeface="Nirmala UI"/>
                <a:cs typeface="Nirmala UI"/>
              </a:rPr>
              <a:t>ನುಡಿಯ</a:t>
            </a:r>
          </a:p>
        </p:txBody>
      </p:sp>
      <p:sp>
        <p:nvSpPr>
          <p:cNvPr id="11" name="Rectangle 10">
            <a:extLst>
              <a:ext uri="{FF2B5EF4-FFF2-40B4-BE49-F238E27FC236}">
                <a16:creationId xmlns:a16="http://schemas.microsoft.com/office/drawing/2014/main" id="{FADF2227-3544-40DB-B499-784EC20F7A6B}"/>
              </a:ext>
            </a:extLst>
          </p:cNvPr>
          <p:cNvSpPr>
            <a:spLocks noGrp="1"/>
          </p:cNvSpPr>
          <p:nvPr/>
        </p:nvSpPr>
        <p:spPr>
          <a:xfrm>
            <a:off x="5657850" y="3600450"/>
            <a:ext cx="1047750" cy="38100"/>
          </a:xfrm>
          <a:prstGeom prst="rect">
            <a:avLst/>
          </a:prstGeom>
          <a:solidFill>
            <a:srgbClr val="D5A14B"/>
          </a:solidFill>
          <a:ln w="0">
            <a:solidFill>
              <a:srgbClr val="000000">
                <a:alpha val="0"/>
              </a:srgbClr>
            </a:solidFill>
            <a:prstDash val="solid"/>
          </a:ln>
        </p:spPr>
      </p:sp>
      <p:sp>
        <p:nvSpPr>
          <p:cNvPr id="12" name="Rectangle 11">
            <a:extLst>
              <a:ext uri="{FF2B5EF4-FFF2-40B4-BE49-F238E27FC236}">
                <a16:creationId xmlns:a16="http://schemas.microsoft.com/office/drawing/2014/main" id="{E6B0D309-543B-4838-9C9E-CA60171748AE}"/>
              </a:ext>
            </a:extLst>
          </p:cNvPr>
          <p:cNvSpPr>
            <a:spLocks noGrp="1"/>
          </p:cNvSpPr>
          <p:nvPr/>
        </p:nvSpPr>
        <p:spPr>
          <a:xfrm>
            <a:off x="6858000" y="2495550"/>
            <a:ext cx="3714750" cy="2190750"/>
          </a:xfrm>
          <a:prstGeom prst="rect">
            <a:avLst/>
          </a:prstGeom>
          <a:solidFill>
            <a:srgbClr val="FFFDF6"/>
          </a:solidFill>
          <a:ln w="9525">
            <a:solidFill>
              <a:srgbClr val="8F3E2F"/>
            </a:solidFill>
            <a:prstDash val="solid"/>
          </a:ln>
        </p:spPr>
      </p:sp>
      <p:sp>
        <p:nvSpPr>
          <p:cNvPr id="13" name="Rectangle 12">
            <a:extLst>
              <a:ext uri="{FF2B5EF4-FFF2-40B4-BE49-F238E27FC236}">
                <a16:creationId xmlns:a16="http://schemas.microsoft.com/office/drawing/2014/main" id="{6DC84856-0CEA-45FA-91DD-502E38CAA438}"/>
              </a:ext>
            </a:extLst>
          </p:cNvPr>
          <p:cNvSpPr>
            <a:spLocks noGrp="1"/>
          </p:cNvSpPr>
          <p:nvPr/>
        </p:nvSpPr>
        <p:spPr>
          <a:xfrm>
            <a:off x="7181850" y="2800350"/>
            <a:ext cx="2286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8F3E2F"/>
                </a:solidFill>
                <a:latin typeface="Aptos"/>
                <a:ea typeface="Aptos"/>
                <a:cs typeface="Aptos"/>
              </a:defRPr>
            </a:pPr>
            <a:r>
              <a:rPr sz="1050" b="1">
                <a:solidFill>
                  <a:srgbClr val="8F3E2F"/>
                </a:solidFill>
                <a:latin typeface="Aptos"/>
                <a:ea typeface="Aptos"/>
                <a:cs typeface="Aptos"/>
              </a:rPr>
              <a:t>Meaning Popup</a:t>
            </a:r>
          </a:p>
        </p:txBody>
      </p:sp>
      <p:sp>
        <p:nvSpPr>
          <p:cNvPr id="14" name="Rectangle 13">
            <a:extLst>
              <a:ext uri="{FF2B5EF4-FFF2-40B4-BE49-F238E27FC236}">
                <a16:creationId xmlns:a16="http://schemas.microsoft.com/office/drawing/2014/main" id="{FF4E372C-0E67-4A9E-9299-3B1902F08717}"/>
              </a:ext>
            </a:extLst>
          </p:cNvPr>
          <p:cNvSpPr>
            <a:spLocks noGrp="1"/>
          </p:cNvSpPr>
          <p:nvPr/>
        </p:nvSpPr>
        <p:spPr>
          <a:xfrm>
            <a:off x="7181850" y="3181350"/>
            <a:ext cx="2381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2D211A"/>
                </a:solidFill>
                <a:latin typeface="Nirmala UI"/>
                <a:ea typeface="Nirmala UI"/>
                <a:cs typeface="Nirmala UI"/>
              </a:defRPr>
            </a:pPr>
            <a:r>
              <a:rPr sz="1950" b="1">
                <a:solidFill>
                  <a:srgbClr val="2D211A"/>
                </a:solidFill>
                <a:latin typeface="Nirmala UI"/>
                <a:ea typeface="Nirmala UI"/>
                <a:cs typeface="Nirmala UI"/>
              </a:rPr>
              <a:t>ನುಡಿಯ</a:t>
            </a:r>
          </a:p>
        </p:txBody>
      </p:sp>
      <p:sp>
        <p:nvSpPr>
          <p:cNvPr id="15" name="Rectangle 14">
            <a:extLst>
              <a:ext uri="{FF2B5EF4-FFF2-40B4-BE49-F238E27FC236}">
                <a16:creationId xmlns:a16="http://schemas.microsoft.com/office/drawing/2014/main" id="{386A021B-FEB0-47AB-90EC-6604CD3B9ACC}"/>
              </a:ext>
            </a:extLst>
          </p:cNvPr>
          <p:cNvSpPr>
            <a:spLocks noGrp="1"/>
          </p:cNvSpPr>
          <p:nvPr/>
        </p:nvSpPr>
        <p:spPr>
          <a:xfrm>
            <a:off x="7181850" y="3657600"/>
            <a:ext cx="28575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6B5C4E"/>
                </a:solidFill>
                <a:latin typeface="Aptos"/>
                <a:ea typeface="Aptos"/>
                <a:cs typeface="Aptos"/>
              </a:defRPr>
            </a:pPr>
            <a:r>
              <a:rPr sz="1200" b="0">
                <a:solidFill>
                  <a:srgbClr val="6B5C4E"/>
                </a:solidFill>
                <a:latin typeface="Aptos"/>
                <a:ea typeface="Aptos"/>
                <a:cs typeface="Aptos"/>
              </a:rPr>
              <a:t>Meaning: Of language or speech</a:t>
            </a:r>
          </a:p>
          <a:p>
            <a:pPr algn="l">
              <a:defRPr sz="1200" b="0">
                <a:solidFill>
                  <a:srgbClr val="6B5C4E"/>
                </a:solidFill>
                <a:latin typeface="Aptos"/>
                <a:ea typeface="Aptos"/>
                <a:cs typeface="Aptos"/>
              </a:defRPr>
            </a:pPr>
            <a:r>
              <a:rPr sz="1200" b="0">
                <a:solidFill>
                  <a:srgbClr val="6B5C4E"/>
                </a:solidFill>
                <a:latin typeface="Aptos"/>
                <a:ea typeface="Aptos"/>
                <a:cs typeface="Aptos"/>
              </a:rPr>
              <a:t>Modern Kannada: ಭಾಷೆಯ</a:t>
            </a:r>
          </a:p>
          <a:p>
            <a:pPr algn="l">
              <a:defRPr sz="1200" b="0">
                <a:solidFill>
                  <a:srgbClr val="6B5C4E"/>
                </a:solidFill>
                <a:latin typeface="Aptos"/>
                <a:ea typeface="Aptos"/>
                <a:cs typeface="Aptos"/>
              </a:defRPr>
            </a:pPr>
            <a:r>
              <a:rPr sz="1200" b="0">
                <a:solidFill>
                  <a:srgbClr val="6B5C4E"/>
                </a:solidFill>
                <a:latin typeface="Aptos"/>
                <a:ea typeface="Aptos"/>
                <a:cs typeface="Aptos"/>
              </a:rPr>
              <a:t>Example: ನುಡಿಯ ಮೌಲ್ಯವನ್ನು ತಿಳಿಯಬೇಕು.</a:t>
            </a:r>
          </a:p>
        </p:txBody>
      </p:sp>
      <p:sp>
        <p:nvSpPr>
          <p:cNvPr id="16" name="Rectangle 15">
            <a:extLst>
              <a:ext uri="{FF2B5EF4-FFF2-40B4-BE49-F238E27FC236}">
                <a16:creationId xmlns:a16="http://schemas.microsoft.com/office/drawing/2014/main" id="{3B110BBB-4648-4C5C-B0ED-D76FFB2AB06B}"/>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17" name="Rectangle 16">
            <a:extLst>
              <a:ext uri="{FF2B5EF4-FFF2-40B4-BE49-F238E27FC236}">
                <a16:creationId xmlns:a16="http://schemas.microsoft.com/office/drawing/2014/main" id="{A63E5575-B62D-491D-AC00-EE144DE780A9}"/>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08</a:t>
            </a:r>
          </a:p>
        </p:txBody>
      </p:sp>
      <p:sp>
        <p:nvSpPr>
          <p:cNvPr id="18" name="Rectangle 17">
            <a:extLst>
              <a:ext uri="{FF2B5EF4-FFF2-40B4-BE49-F238E27FC236}">
                <a16:creationId xmlns:a16="http://schemas.microsoft.com/office/drawing/2014/main" id="{E99EA154-E4F3-4499-BC1F-3CA7296CD27D}"/>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spTree>
    <p:extLst>
      <p:ext uri="{BB962C8B-B14F-4D97-AF65-F5344CB8AC3E}">
        <p14:creationId xmlns:p14="http://schemas.microsoft.com/office/powerpoint/2010/main" val="1713390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A325D47-1A32-482A-925C-C37B8E9069DE}"/>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0FB1668E-5D53-4175-BEF9-6A6E397B116F}"/>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60955367-F733-43E0-A631-F29ACD108111}"/>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4" name="kicker-marker">
            <a:extLst>
              <a:ext uri="{FF2B5EF4-FFF2-40B4-BE49-F238E27FC236}">
                <a16:creationId xmlns:a16="http://schemas.microsoft.com/office/drawing/2014/main" id="{0D0F8FB9-C099-4C82-8E1C-39048E82AE1A}"/>
              </a:ext>
            </a:extLst>
          </p:cNvPr>
          <p:cNvSpPr>
            <a:spLocks noGrp="1"/>
          </p:cNvSpPr>
          <p:nvPr/>
        </p:nvSpPr>
        <p:spPr>
          <a:xfrm>
            <a:off x="609600" y="547688"/>
            <a:ext cx="285750" cy="28575"/>
          </a:xfrm>
          <a:prstGeom prst="rect">
            <a:avLst/>
          </a:prstGeom>
          <a:solidFill>
            <a:srgbClr val="D5A14B"/>
          </a:solidFill>
          <a:ln w="0">
            <a:solidFill>
              <a:srgbClr val="000000">
                <a:alpha val="0"/>
              </a:srgbClr>
            </a:solidFill>
            <a:prstDash val="solid"/>
          </a:ln>
        </p:spPr>
      </p:sp>
      <p:sp>
        <p:nvSpPr>
          <p:cNvPr id="5" name="kicker-label">
            <a:extLst>
              <a:ext uri="{FF2B5EF4-FFF2-40B4-BE49-F238E27FC236}">
                <a16:creationId xmlns:a16="http://schemas.microsoft.com/office/drawing/2014/main" id="{86C02C68-E001-4377-AFDB-D82D7E2EFE59}"/>
              </a:ext>
            </a:extLst>
          </p:cNvPr>
          <p:cNvSpPr>
            <a:spLocks noGrp="1"/>
          </p:cNvSpPr>
          <p:nvPr/>
        </p:nvSpPr>
        <p:spPr>
          <a:xfrm>
            <a:off x="1009650" y="4572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8F3E2F"/>
                </a:solidFill>
                <a:latin typeface="Aptos"/>
                <a:ea typeface="Aptos"/>
                <a:cs typeface="Aptos"/>
              </a:defRPr>
            </a:pPr>
            <a:r>
              <a:rPr sz="900" b="1">
                <a:solidFill>
                  <a:srgbClr val="8F3E2F"/>
                </a:solidFill>
                <a:latin typeface="Aptos"/>
                <a:ea typeface="Aptos"/>
                <a:cs typeface="Aptos"/>
              </a:rPr>
              <a:t>AUDIO / AI VOICE</a:t>
            </a:r>
          </a:p>
        </p:txBody>
      </p:sp>
      <p:sp>
        <p:nvSpPr>
          <p:cNvPr id="6" name="Rectangle 5">
            <a:extLst>
              <a:ext uri="{FF2B5EF4-FFF2-40B4-BE49-F238E27FC236}">
                <a16:creationId xmlns:a16="http://schemas.microsoft.com/office/drawing/2014/main" id="{A8645E12-F12D-4835-852E-E2320D989351}"/>
              </a:ext>
            </a:extLst>
          </p:cNvPr>
          <p:cNvSpPr>
            <a:spLocks noGrp="1"/>
          </p:cNvSpPr>
          <p:nvPr/>
        </p:nvSpPr>
        <p:spPr>
          <a:xfrm>
            <a:off x="609600" y="723900"/>
            <a:ext cx="7810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2D211A"/>
                </a:solidFill>
                <a:latin typeface="Aptos Display"/>
                <a:ea typeface="Aptos Display"/>
                <a:cs typeface="Aptos Display"/>
              </a:defRPr>
            </a:pPr>
            <a:r>
              <a:rPr sz="2550" b="1">
                <a:solidFill>
                  <a:srgbClr val="2D211A"/>
                </a:solidFill>
                <a:latin typeface="Aptos Display"/>
                <a:ea typeface="Aptos Display"/>
                <a:cs typeface="Aptos Display"/>
              </a:rPr>
              <a:t>The audio button works even without recording 52 separate MP3 files.</a:t>
            </a:r>
          </a:p>
        </p:txBody>
      </p:sp>
      <p:sp>
        <p:nvSpPr>
          <p:cNvPr id="7" name="Rectangle 6">
            <a:extLst>
              <a:ext uri="{FF2B5EF4-FFF2-40B4-BE49-F238E27FC236}">
                <a16:creationId xmlns:a16="http://schemas.microsoft.com/office/drawing/2014/main" id="{8FB0BC4B-2D38-45BD-882C-0C730A6B32A0}"/>
              </a:ext>
            </a:extLst>
          </p:cNvPr>
          <p:cNvSpPr>
            <a:spLocks noGrp="1"/>
          </p:cNvSpPr>
          <p:nvPr/>
        </p:nvSpPr>
        <p:spPr>
          <a:xfrm>
            <a:off x="857250" y="3048000"/>
            <a:ext cx="1714500" cy="647700"/>
          </a:xfrm>
          <a:prstGeom prst="rect">
            <a:avLst/>
          </a:prstGeom>
          <a:solidFill>
            <a:srgbClr val="F3E6CF"/>
          </a:solidFill>
          <a:ln w="9525">
            <a:solidFill>
              <a:srgbClr val="000000">
                <a:alpha val="0"/>
              </a:srgbClr>
            </a:solidFill>
            <a:prstDash val="solid"/>
          </a:ln>
        </p:spPr>
      </p:sp>
      <p:sp>
        <p:nvSpPr>
          <p:cNvPr id="8" name="Rectangle 7">
            <a:extLst>
              <a:ext uri="{FF2B5EF4-FFF2-40B4-BE49-F238E27FC236}">
                <a16:creationId xmlns:a16="http://schemas.microsoft.com/office/drawing/2014/main" id="{4902D086-DA3D-4496-B0C8-6E306FA4F117}"/>
              </a:ext>
            </a:extLst>
          </p:cNvPr>
          <p:cNvSpPr>
            <a:spLocks noGrp="1"/>
          </p:cNvSpPr>
          <p:nvPr/>
        </p:nvSpPr>
        <p:spPr>
          <a:xfrm>
            <a:off x="990600" y="3162300"/>
            <a:ext cx="1447800" cy="3810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125" b="1">
                <a:solidFill>
                  <a:srgbClr val="2D211A"/>
                </a:solidFill>
                <a:latin typeface="Aptos"/>
                <a:ea typeface="Aptos"/>
                <a:cs typeface="Aptos"/>
              </a:defRPr>
            </a:pPr>
            <a:r>
              <a:rPr sz="1125" b="1">
                <a:solidFill>
                  <a:srgbClr val="2D211A"/>
                </a:solidFill>
                <a:latin typeface="Aptos"/>
                <a:ea typeface="Aptos"/>
                <a:cs typeface="Aptos"/>
              </a:rPr>
              <a:t>User taps Play</a:t>
            </a:r>
          </a:p>
        </p:txBody>
      </p:sp>
      <p:sp>
        <p:nvSpPr>
          <p:cNvPr id="9" name="Rectangle 8">
            <a:extLst>
              <a:ext uri="{FF2B5EF4-FFF2-40B4-BE49-F238E27FC236}">
                <a16:creationId xmlns:a16="http://schemas.microsoft.com/office/drawing/2014/main" id="{7FF98CDD-9A4E-4494-9F93-EDE110DDF2EA}"/>
              </a:ext>
            </a:extLst>
          </p:cNvPr>
          <p:cNvSpPr>
            <a:spLocks noGrp="1"/>
          </p:cNvSpPr>
          <p:nvPr/>
        </p:nvSpPr>
        <p:spPr>
          <a:xfrm>
            <a:off x="2686050" y="3343275"/>
            <a:ext cx="857250" cy="47625"/>
          </a:xfrm>
          <a:prstGeom prst="rect">
            <a:avLst/>
          </a:prstGeom>
          <a:solidFill>
            <a:srgbClr val="D5A14B"/>
          </a:solidFill>
          <a:ln w="0">
            <a:solidFill>
              <a:srgbClr val="000000">
                <a:alpha val="0"/>
              </a:srgbClr>
            </a:solidFill>
            <a:prstDash val="solid"/>
          </a:ln>
        </p:spPr>
      </p:sp>
      <p:sp>
        <p:nvSpPr>
          <p:cNvPr id="10" name="Rectangle 9">
            <a:extLst>
              <a:ext uri="{FF2B5EF4-FFF2-40B4-BE49-F238E27FC236}">
                <a16:creationId xmlns:a16="http://schemas.microsoft.com/office/drawing/2014/main" id="{BD7788C2-733F-49E9-98DA-7CEEC559805E}"/>
              </a:ext>
            </a:extLst>
          </p:cNvPr>
          <p:cNvSpPr>
            <a:spLocks noGrp="1"/>
          </p:cNvSpPr>
          <p:nvPr/>
        </p:nvSpPr>
        <p:spPr>
          <a:xfrm>
            <a:off x="3714750" y="3048000"/>
            <a:ext cx="1809750" cy="647700"/>
          </a:xfrm>
          <a:prstGeom prst="rect">
            <a:avLst/>
          </a:prstGeom>
          <a:solidFill>
            <a:srgbClr val="E4EEF4"/>
          </a:solidFill>
          <a:ln w="9525">
            <a:solidFill>
              <a:srgbClr val="000000">
                <a:alpha val="0"/>
              </a:srgbClr>
            </a:solidFill>
            <a:prstDash val="solid"/>
          </a:ln>
        </p:spPr>
      </p:sp>
      <p:sp>
        <p:nvSpPr>
          <p:cNvPr id="11" name="Rectangle 10">
            <a:extLst>
              <a:ext uri="{FF2B5EF4-FFF2-40B4-BE49-F238E27FC236}">
                <a16:creationId xmlns:a16="http://schemas.microsoft.com/office/drawing/2014/main" id="{E4CE202C-19A6-46FE-A1A7-505D8FD396C7}"/>
              </a:ext>
            </a:extLst>
          </p:cNvPr>
          <p:cNvSpPr>
            <a:spLocks noGrp="1"/>
          </p:cNvSpPr>
          <p:nvPr/>
        </p:nvSpPr>
        <p:spPr>
          <a:xfrm>
            <a:off x="3848100" y="3162300"/>
            <a:ext cx="1543050" cy="3810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125" b="1">
                <a:solidFill>
                  <a:srgbClr val="2D211A"/>
                </a:solidFill>
                <a:latin typeface="Aptos"/>
                <a:ea typeface="Aptos"/>
                <a:cs typeface="Aptos"/>
              </a:defRPr>
            </a:pPr>
            <a:r>
              <a:rPr sz="1125" b="1">
                <a:solidFill>
                  <a:srgbClr val="2D211A"/>
                </a:solidFill>
                <a:latin typeface="Aptos"/>
                <a:ea typeface="Aptos"/>
                <a:cs typeface="Aptos"/>
              </a:rPr>
              <a:t>audioFile exists?</a:t>
            </a:r>
          </a:p>
        </p:txBody>
      </p:sp>
      <p:sp>
        <p:nvSpPr>
          <p:cNvPr id="12" name="Rectangle 11">
            <a:extLst>
              <a:ext uri="{FF2B5EF4-FFF2-40B4-BE49-F238E27FC236}">
                <a16:creationId xmlns:a16="http://schemas.microsoft.com/office/drawing/2014/main" id="{41B63687-C529-43D8-B66A-B0E0630142B8}"/>
              </a:ext>
            </a:extLst>
          </p:cNvPr>
          <p:cNvSpPr>
            <a:spLocks noGrp="1"/>
          </p:cNvSpPr>
          <p:nvPr/>
        </p:nvSpPr>
        <p:spPr>
          <a:xfrm>
            <a:off x="5657850" y="3105150"/>
            <a:ext cx="1143000" cy="47625"/>
          </a:xfrm>
          <a:prstGeom prst="rect">
            <a:avLst/>
          </a:prstGeom>
          <a:solidFill>
            <a:srgbClr val="D5A14B"/>
          </a:solidFill>
          <a:ln w="0">
            <a:solidFill>
              <a:srgbClr val="000000">
                <a:alpha val="0"/>
              </a:srgbClr>
            </a:solidFill>
            <a:prstDash val="solid"/>
          </a:ln>
        </p:spPr>
      </p:sp>
      <p:sp>
        <p:nvSpPr>
          <p:cNvPr id="13" name="Rectangle 12">
            <a:extLst>
              <a:ext uri="{FF2B5EF4-FFF2-40B4-BE49-F238E27FC236}">
                <a16:creationId xmlns:a16="http://schemas.microsoft.com/office/drawing/2014/main" id="{F44BB969-46CA-4A1A-88CD-919A8D029B5E}"/>
              </a:ext>
            </a:extLst>
          </p:cNvPr>
          <p:cNvSpPr>
            <a:spLocks noGrp="1"/>
          </p:cNvSpPr>
          <p:nvPr/>
        </p:nvSpPr>
        <p:spPr>
          <a:xfrm>
            <a:off x="5657850" y="3638550"/>
            <a:ext cx="1143000" cy="47625"/>
          </a:xfrm>
          <a:prstGeom prst="rect">
            <a:avLst/>
          </a:prstGeom>
          <a:solidFill>
            <a:srgbClr val="D5A14B"/>
          </a:solidFill>
          <a:ln w="0">
            <a:solidFill>
              <a:srgbClr val="000000">
                <a:alpha val="0"/>
              </a:srgbClr>
            </a:solidFill>
            <a:prstDash val="solid"/>
          </a:ln>
        </p:spPr>
      </p:sp>
      <p:sp>
        <p:nvSpPr>
          <p:cNvPr id="14" name="Rectangle 13">
            <a:extLst>
              <a:ext uri="{FF2B5EF4-FFF2-40B4-BE49-F238E27FC236}">
                <a16:creationId xmlns:a16="http://schemas.microsoft.com/office/drawing/2014/main" id="{77C313A8-A8DC-4C59-BF8F-BBF50EE2E77B}"/>
              </a:ext>
            </a:extLst>
          </p:cNvPr>
          <p:cNvSpPr>
            <a:spLocks noGrp="1"/>
          </p:cNvSpPr>
          <p:nvPr/>
        </p:nvSpPr>
        <p:spPr>
          <a:xfrm>
            <a:off x="7000875" y="2571750"/>
            <a:ext cx="1809750" cy="742950"/>
          </a:xfrm>
          <a:prstGeom prst="rect">
            <a:avLst/>
          </a:prstGeom>
          <a:solidFill>
            <a:srgbClr val="E4EFE8"/>
          </a:solidFill>
          <a:ln w="9525">
            <a:solidFill>
              <a:srgbClr val="000000">
                <a:alpha val="0"/>
              </a:srgbClr>
            </a:solidFill>
            <a:prstDash val="solid"/>
          </a:ln>
        </p:spPr>
      </p:sp>
      <p:sp>
        <p:nvSpPr>
          <p:cNvPr id="15" name="Rectangle 14">
            <a:extLst>
              <a:ext uri="{FF2B5EF4-FFF2-40B4-BE49-F238E27FC236}">
                <a16:creationId xmlns:a16="http://schemas.microsoft.com/office/drawing/2014/main" id="{68C6C7DA-1D00-4D80-9CE0-70EC8C35CD4B}"/>
              </a:ext>
            </a:extLst>
          </p:cNvPr>
          <p:cNvSpPr>
            <a:spLocks noGrp="1"/>
          </p:cNvSpPr>
          <p:nvPr/>
        </p:nvSpPr>
        <p:spPr>
          <a:xfrm>
            <a:off x="7134225" y="2686050"/>
            <a:ext cx="1543050" cy="476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125" b="1">
                <a:solidFill>
                  <a:srgbClr val="2D211A"/>
                </a:solidFill>
                <a:latin typeface="Aptos"/>
                <a:ea typeface="Aptos"/>
                <a:cs typeface="Aptos"/>
              </a:defRPr>
            </a:pPr>
            <a:r>
              <a:rPr sz="1125" b="1">
                <a:solidFill>
                  <a:srgbClr val="2D211A"/>
                </a:solidFill>
                <a:latin typeface="Aptos"/>
                <a:ea typeface="Aptos"/>
                <a:cs typeface="Aptos"/>
              </a:rPr>
              <a:t>Play MP3</a:t>
            </a:r>
          </a:p>
          <a:p>
            <a:pPr algn="ctr">
              <a:defRPr sz="1125" b="1">
                <a:solidFill>
                  <a:srgbClr val="2D211A"/>
                </a:solidFill>
                <a:latin typeface="Aptos"/>
                <a:ea typeface="Aptos"/>
                <a:cs typeface="Aptos"/>
              </a:defRPr>
            </a:pPr>
            <a:r>
              <a:rPr sz="1125" b="1">
                <a:solidFill>
                  <a:srgbClr val="2D211A"/>
                </a:solidFill>
                <a:latin typeface="Aptos"/>
                <a:ea typeface="Aptos"/>
                <a:cs typeface="Aptos"/>
              </a:rPr>
              <a:t>MediaPlayer</a:t>
            </a:r>
          </a:p>
        </p:txBody>
      </p:sp>
      <p:sp>
        <p:nvSpPr>
          <p:cNvPr id="16" name="Rectangle 15">
            <a:extLst>
              <a:ext uri="{FF2B5EF4-FFF2-40B4-BE49-F238E27FC236}">
                <a16:creationId xmlns:a16="http://schemas.microsoft.com/office/drawing/2014/main" id="{7CC1B3B4-4F44-4241-B934-AB2C48FC834A}"/>
              </a:ext>
            </a:extLst>
          </p:cNvPr>
          <p:cNvSpPr>
            <a:spLocks noGrp="1"/>
          </p:cNvSpPr>
          <p:nvPr/>
        </p:nvSpPr>
        <p:spPr>
          <a:xfrm>
            <a:off x="7000875" y="3638550"/>
            <a:ext cx="1809750" cy="742950"/>
          </a:xfrm>
          <a:prstGeom prst="rect">
            <a:avLst/>
          </a:prstGeom>
          <a:solidFill>
            <a:srgbClr val="F3E6CF"/>
          </a:solidFill>
          <a:ln w="9525">
            <a:solidFill>
              <a:srgbClr val="000000">
                <a:alpha val="0"/>
              </a:srgbClr>
            </a:solidFill>
            <a:prstDash val="solid"/>
          </a:ln>
        </p:spPr>
      </p:sp>
      <p:sp>
        <p:nvSpPr>
          <p:cNvPr id="17" name="Rectangle 16">
            <a:extLst>
              <a:ext uri="{FF2B5EF4-FFF2-40B4-BE49-F238E27FC236}">
                <a16:creationId xmlns:a16="http://schemas.microsoft.com/office/drawing/2014/main" id="{BD7B4003-C3F3-4CFC-9C0F-6C5C894D9F63}"/>
              </a:ext>
            </a:extLst>
          </p:cNvPr>
          <p:cNvSpPr>
            <a:spLocks noGrp="1"/>
          </p:cNvSpPr>
          <p:nvPr/>
        </p:nvSpPr>
        <p:spPr>
          <a:xfrm>
            <a:off x="7134225" y="3752850"/>
            <a:ext cx="1543050" cy="476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125" b="1">
                <a:solidFill>
                  <a:srgbClr val="2D211A"/>
                </a:solidFill>
                <a:latin typeface="Aptos"/>
                <a:ea typeface="Aptos"/>
                <a:cs typeface="Aptos"/>
              </a:defRPr>
            </a:pPr>
            <a:r>
              <a:rPr sz="1125" b="1">
                <a:solidFill>
                  <a:srgbClr val="2D211A"/>
                </a:solidFill>
                <a:latin typeface="Aptos"/>
                <a:ea typeface="Aptos"/>
                <a:cs typeface="Aptos"/>
              </a:rPr>
              <a:t>Generate voice</a:t>
            </a:r>
          </a:p>
          <a:p>
            <a:pPr algn="ctr">
              <a:defRPr sz="1125" b="1">
                <a:solidFill>
                  <a:srgbClr val="2D211A"/>
                </a:solidFill>
                <a:latin typeface="Aptos"/>
                <a:ea typeface="Aptos"/>
                <a:cs typeface="Aptos"/>
              </a:defRPr>
            </a:pPr>
            <a:r>
              <a:rPr sz="1125" b="1">
                <a:solidFill>
                  <a:srgbClr val="2D211A"/>
                </a:solidFill>
                <a:latin typeface="Aptos"/>
                <a:ea typeface="Aptos"/>
                <a:cs typeface="Aptos"/>
              </a:rPr>
              <a:t>TextToSpeech</a:t>
            </a:r>
          </a:p>
        </p:txBody>
      </p:sp>
      <p:sp>
        <p:nvSpPr>
          <p:cNvPr id="18" name="Rectangle 17">
            <a:extLst>
              <a:ext uri="{FF2B5EF4-FFF2-40B4-BE49-F238E27FC236}">
                <a16:creationId xmlns:a16="http://schemas.microsoft.com/office/drawing/2014/main" id="{4B897D78-C451-4078-B98C-2D6321A48146}"/>
              </a:ext>
            </a:extLst>
          </p:cNvPr>
          <p:cNvSpPr>
            <a:spLocks noGrp="1"/>
          </p:cNvSpPr>
          <p:nvPr/>
        </p:nvSpPr>
        <p:spPr>
          <a:xfrm>
            <a:off x="8953500" y="3105150"/>
            <a:ext cx="914400" cy="47625"/>
          </a:xfrm>
          <a:prstGeom prst="rect">
            <a:avLst/>
          </a:prstGeom>
          <a:solidFill>
            <a:srgbClr val="D5A14B"/>
          </a:solidFill>
          <a:ln w="0">
            <a:solidFill>
              <a:srgbClr val="000000">
                <a:alpha val="0"/>
              </a:srgbClr>
            </a:solidFill>
            <a:prstDash val="solid"/>
          </a:ln>
        </p:spPr>
      </p:sp>
      <p:sp>
        <p:nvSpPr>
          <p:cNvPr id="19" name="Rectangle 18">
            <a:extLst>
              <a:ext uri="{FF2B5EF4-FFF2-40B4-BE49-F238E27FC236}">
                <a16:creationId xmlns:a16="http://schemas.microsoft.com/office/drawing/2014/main" id="{B6B20CA4-414D-429E-BB7E-BB2D96719AD2}"/>
              </a:ext>
            </a:extLst>
          </p:cNvPr>
          <p:cNvSpPr>
            <a:spLocks noGrp="1"/>
          </p:cNvSpPr>
          <p:nvPr/>
        </p:nvSpPr>
        <p:spPr>
          <a:xfrm>
            <a:off x="8953500" y="4171950"/>
            <a:ext cx="914400" cy="47625"/>
          </a:xfrm>
          <a:prstGeom prst="rect">
            <a:avLst/>
          </a:prstGeom>
          <a:solidFill>
            <a:srgbClr val="D5A14B"/>
          </a:solidFill>
          <a:ln w="0">
            <a:solidFill>
              <a:srgbClr val="000000">
                <a:alpha val="0"/>
              </a:srgbClr>
            </a:solidFill>
            <a:prstDash val="solid"/>
          </a:ln>
        </p:spPr>
      </p:sp>
      <p:sp>
        <p:nvSpPr>
          <p:cNvPr id="20" name="Rectangle 19">
            <a:extLst>
              <a:ext uri="{FF2B5EF4-FFF2-40B4-BE49-F238E27FC236}">
                <a16:creationId xmlns:a16="http://schemas.microsoft.com/office/drawing/2014/main" id="{84A7004F-5036-4BC3-922D-D2977FB8971D}"/>
              </a:ext>
            </a:extLst>
          </p:cNvPr>
          <p:cNvSpPr>
            <a:spLocks noGrp="1"/>
          </p:cNvSpPr>
          <p:nvPr/>
        </p:nvSpPr>
        <p:spPr>
          <a:xfrm>
            <a:off x="10001250" y="3105150"/>
            <a:ext cx="1333500" cy="742950"/>
          </a:xfrm>
          <a:prstGeom prst="rect">
            <a:avLst/>
          </a:prstGeom>
          <a:solidFill>
            <a:srgbClr val="FFFDF6"/>
          </a:solidFill>
          <a:ln w="9525">
            <a:solidFill>
              <a:srgbClr val="000000">
                <a:alpha val="0"/>
              </a:srgbClr>
            </a:solidFill>
            <a:prstDash val="solid"/>
          </a:ln>
        </p:spPr>
      </p:sp>
      <p:sp>
        <p:nvSpPr>
          <p:cNvPr id="21" name="Rectangle 20">
            <a:extLst>
              <a:ext uri="{FF2B5EF4-FFF2-40B4-BE49-F238E27FC236}">
                <a16:creationId xmlns:a16="http://schemas.microsoft.com/office/drawing/2014/main" id="{629A16DF-77BC-4C1E-9BD1-46CFFC89A8D1}"/>
              </a:ext>
            </a:extLst>
          </p:cNvPr>
          <p:cNvSpPr>
            <a:spLocks noGrp="1"/>
          </p:cNvSpPr>
          <p:nvPr/>
        </p:nvSpPr>
        <p:spPr>
          <a:xfrm>
            <a:off x="10134600" y="3219450"/>
            <a:ext cx="1066800" cy="476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125" b="1">
                <a:solidFill>
                  <a:srgbClr val="2D211A"/>
                </a:solidFill>
                <a:latin typeface="Aptos"/>
                <a:ea typeface="Aptos"/>
                <a:cs typeface="Aptos"/>
              </a:defRPr>
            </a:pPr>
            <a:r>
              <a:rPr sz="1125" b="1">
                <a:solidFill>
                  <a:srgbClr val="2D211A"/>
                </a:solidFill>
                <a:latin typeface="Aptos"/>
                <a:ea typeface="Aptos"/>
                <a:cs typeface="Aptos"/>
              </a:rPr>
              <a:t>Recitation</a:t>
            </a:r>
          </a:p>
          <a:p>
            <a:pPr algn="ctr">
              <a:defRPr sz="1125" b="1">
                <a:solidFill>
                  <a:srgbClr val="2D211A"/>
                </a:solidFill>
                <a:latin typeface="Aptos"/>
                <a:ea typeface="Aptos"/>
                <a:cs typeface="Aptos"/>
              </a:defRPr>
            </a:pPr>
            <a:r>
              <a:rPr sz="1125" b="1">
                <a:solidFill>
                  <a:srgbClr val="2D211A"/>
                </a:solidFill>
                <a:latin typeface="Aptos"/>
                <a:ea typeface="Aptos"/>
                <a:cs typeface="Aptos"/>
              </a:rPr>
              <a:t>starts</a:t>
            </a:r>
          </a:p>
        </p:txBody>
      </p:sp>
      <p:sp>
        <p:nvSpPr>
          <p:cNvPr id="23" name="Rectangle 22">
            <a:extLst>
              <a:ext uri="{FF2B5EF4-FFF2-40B4-BE49-F238E27FC236}">
                <a16:creationId xmlns:a16="http://schemas.microsoft.com/office/drawing/2014/main" id="{7A349171-7384-48DC-94ED-F4C4CAF9E27B}"/>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24" name="Rectangle 23">
            <a:extLst>
              <a:ext uri="{FF2B5EF4-FFF2-40B4-BE49-F238E27FC236}">
                <a16:creationId xmlns:a16="http://schemas.microsoft.com/office/drawing/2014/main" id="{CDFFFC27-6CFB-4002-96DB-9FA91E09EFBA}"/>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09</a:t>
            </a:r>
          </a:p>
        </p:txBody>
      </p:sp>
      <p:sp>
        <p:nvSpPr>
          <p:cNvPr id="25" name="Rectangle 24">
            <a:extLst>
              <a:ext uri="{FF2B5EF4-FFF2-40B4-BE49-F238E27FC236}">
                <a16:creationId xmlns:a16="http://schemas.microsoft.com/office/drawing/2014/main" id="{AF04E575-B66D-4AD6-B54F-32E14F03B464}"/>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spTree>
    <p:extLst>
      <p:ext uri="{BB962C8B-B14F-4D97-AF65-F5344CB8AC3E}">
        <p14:creationId xmlns:p14="http://schemas.microsoft.com/office/powerpoint/2010/main" val="668312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A2773D04-C82C-4C1A-B55B-27414DEA43BF}"/>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27D65DF9-9CFC-4081-8C69-4BD5A56B9CF1}"/>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E6264823-9752-439C-963D-32E25A0311FC}"/>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4" name="kicker-marker">
            <a:extLst>
              <a:ext uri="{FF2B5EF4-FFF2-40B4-BE49-F238E27FC236}">
                <a16:creationId xmlns:a16="http://schemas.microsoft.com/office/drawing/2014/main" id="{E53F786D-E42D-4FAA-868D-0169D51F8B56}"/>
              </a:ext>
            </a:extLst>
          </p:cNvPr>
          <p:cNvSpPr>
            <a:spLocks noGrp="1"/>
          </p:cNvSpPr>
          <p:nvPr/>
        </p:nvSpPr>
        <p:spPr>
          <a:xfrm>
            <a:off x="609600" y="547688"/>
            <a:ext cx="285750" cy="28575"/>
          </a:xfrm>
          <a:prstGeom prst="rect">
            <a:avLst/>
          </a:prstGeom>
          <a:solidFill>
            <a:srgbClr val="D5A14B"/>
          </a:solidFill>
          <a:ln w="0">
            <a:solidFill>
              <a:srgbClr val="000000">
                <a:alpha val="0"/>
              </a:srgbClr>
            </a:solidFill>
            <a:prstDash val="solid"/>
          </a:ln>
        </p:spPr>
      </p:sp>
      <p:sp>
        <p:nvSpPr>
          <p:cNvPr id="5" name="kicker-label">
            <a:extLst>
              <a:ext uri="{FF2B5EF4-FFF2-40B4-BE49-F238E27FC236}">
                <a16:creationId xmlns:a16="http://schemas.microsoft.com/office/drawing/2014/main" id="{3A74C625-D248-4A9D-8FD3-877584CB7F13}"/>
              </a:ext>
            </a:extLst>
          </p:cNvPr>
          <p:cNvSpPr>
            <a:spLocks noGrp="1"/>
          </p:cNvSpPr>
          <p:nvPr/>
        </p:nvSpPr>
        <p:spPr>
          <a:xfrm>
            <a:off x="1009650" y="4572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8F3E2F"/>
                </a:solidFill>
                <a:latin typeface="Aptos"/>
                <a:ea typeface="Aptos"/>
                <a:cs typeface="Aptos"/>
              </a:defRPr>
            </a:pPr>
            <a:r>
              <a:rPr sz="900" b="1">
                <a:solidFill>
                  <a:srgbClr val="8F3E2F"/>
                </a:solidFill>
                <a:latin typeface="Aptos"/>
                <a:ea typeface="Aptos"/>
                <a:cs typeface="Aptos"/>
              </a:rPr>
              <a:t>DATA MODEL</a:t>
            </a:r>
          </a:p>
        </p:txBody>
      </p:sp>
      <p:sp>
        <p:nvSpPr>
          <p:cNvPr id="6" name="Rectangle 5">
            <a:extLst>
              <a:ext uri="{FF2B5EF4-FFF2-40B4-BE49-F238E27FC236}">
                <a16:creationId xmlns:a16="http://schemas.microsoft.com/office/drawing/2014/main" id="{9BF529B6-0555-49EB-975A-2C0BB938C501}"/>
              </a:ext>
            </a:extLst>
          </p:cNvPr>
          <p:cNvSpPr>
            <a:spLocks noGrp="1"/>
          </p:cNvSpPr>
          <p:nvPr/>
        </p:nvSpPr>
        <p:spPr>
          <a:xfrm>
            <a:off x="609600" y="723900"/>
            <a:ext cx="7810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2D211A"/>
                </a:solidFill>
                <a:latin typeface="Aptos Display"/>
                <a:ea typeface="Aptos Display"/>
                <a:cs typeface="Aptos Display"/>
              </a:defRPr>
            </a:pPr>
            <a:r>
              <a:rPr sz="2550" b="1">
                <a:solidFill>
                  <a:srgbClr val="2D211A"/>
                </a:solidFill>
                <a:latin typeface="Aptos Display"/>
                <a:ea typeface="Aptos Display"/>
                <a:cs typeface="Aptos Display"/>
              </a:rPr>
              <a:t>The content is easy to update because poems are stored in one JSON file.</a:t>
            </a:r>
          </a:p>
        </p:txBody>
      </p:sp>
      <p:sp>
        <p:nvSpPr>
          <p:cNvPr id="7" name="Rectangle 6">
            <a:extLst>
              <a:ext uri="{FF2B5EF4-FFF2-40B4-BE49-F238E27FC236}">
                <a16:creationId xmlns:a16="http://schemas.microsoft.com/office/drawing/2014/main" id="{8B758218-E456-482A-A5FC-092E4EF53179}"/>
              </a:ext>
            </a:extLst>
          </p:cNvPr>
          <p:cNvSpPr>
            <a:spLocks noGrp="1"/>
          </p:cNvSpPr>
          <p:nvPr/>
        </p:nvSpPr>
        <p:spPr>
          <a:xfrm>
            <a:off x="876300" y="2266950"/>
            <a:ext cx="4000500" cy="2857500"/>
          </a:xfrm>
          <a:prstGeom prst="rect">
            <a:avLst/>
          </a:prstGeom>
          <a:solidFill>
            <a:srgbClr val="FFFDF6"/>
          </a:solidFill>
          <a:ln w="9525">
            <a:solidFill>
              <a:srgbClr val="F3E6CF"/>
            </a:solidFill>
            <a:prstDash val="solid"/>
          </a:ln>
        </p:spPr>
      </p:sp>
      <p:sp>
        <p:nvSpPr>
          <p:cNvPr id="8" name="Rectangle 7">
            <a:extLst>
              <a:ext uri="{FF2B5EF4-FFF2-40B4-BE49-F238E27FC236}">
                <a16:creationId xmlns:a16="http://schemas.microsoft.com/office/drawing/2014/main" id="{F4B68EB2-BD57-4D40-A5F0-B93E01DFD7D6}"/>
              </a:ext>
            </a:extLst>
          </p:cNvPr>
          <p:cNvSpPr>
            <a:spLocks noGrp="1"/>
          </p:cNvSpPr>
          <p:nvPr/>
        </p:nvSpPr>
        <p:spPr>
          <a:xfrm>
            <a:off x="1162050" y="2571750"/>
            <a:ext cx="2857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8F3E2F"/>
                </a:solidFill>
                <a:latin typeface="Aptos Mono"/>
                <a:ea typeface="Aptos Mono"/>
                <a:cs typeface="Aptos Mono"/>
              </a:defRPr>
            </a:pPr>
            <a:r>
              <a:rPr sz="1950" b="1">
                <a:solidFill>
                  <a:srgbClr val="8F3E2F"/>
                </a:solidFill>
                <a:latin typeface="Aptos Mono"/>
                <a:ea typeface="Aptos Mono"/>
                <a:cs typeface="Aptos Mono"/>
              </a:rPr>
              <a:t>kavya_data.json</a:t>
            </a:r>
          </a:p>
        </p:txBody>
      </p:sp>
      <p:sp>
        <p:nvSpPr>
          <p:cNvPr id="9" name="Rectangle 8">
            <a:extLst>
              <a:ext uri="{FF2B5EF4-FFF2-40B4-BE49-F238E27FC236}">
                <a16:creationId xmlns:a16="http://schemas.microsoft.com/office/drawing/2014/main" id="{ADA511FC-7F28-4151-BF72-5F457A0E4629}"/>
              </a:ext>
            </a:extLst>
          </p:cNvPr>
          <p:cNvSpPr>
            <a:spLocks noGrp="1"/>
          </p:cNvSpPr>
          <p:nvPr/>
        </p:nvSpPr>
        <p:spPr>
          <a:xfrm>
            <a:off x="1200150" y="3200400"/>
            <a:ext cx="2667000" cy="933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2D211A"/>
                </a:solidFill>
                <a:latin typeface="Aptos"/>
                <a:ea typeface="Aptos"/>
                <a:cs typeface="Aptos"/>
              </a:defRPr>
            </a:pPr>
            <a:r>
              <a:rPr sz="1800" b="1">
                <a:solidFill>
                  <a:srgbClr val="2D211A"/>
                </a:solidFill>
                <a:latin typeface="Aptos"/>
                <a:ea typeface="Aptos"/>
                <a:cs typeface="Aptos"/>
              </a:rPr>
              <a:t>52 poems</a:t>
            </a:r>
          </a:p>
          <a:p>
            <a:pPr algn="l">
              <a:defRPr sz="1800" b="1">
                <a:solidFill>
                  <a:srgbClr val="2D211A"/>
                </a:solidFill>
                <a:latin typeface="Aptos"/>
                <a:ea typeface="Aptos"/>
                <a:cs typeface="Aptos"/>
              </a:defRPr>
            </a:pPr>
            <a:r>
              <a:rPr sz="1800" b="1">
                <a:solidFill>
                  <a:srgbClr val="2D211A"/>
                </a:solidFill>
                <a:latin typeface="Aptos"/>
                <a:ea typeface="Aptos"/>
                <a:cs typeface="Aptos"/>
              </a:rPr>
              <a:t>8 poet biographies</a:t>
            </a:r>
          </a:p>
          <a:p>
            <a:pPr algn="l">
              <a:defRPr sz="1800" b="1">
                <a:solidFill>
                  <a:srgbClr val="2D211A"/>
                </a:solidFill>
                <a:latin typeface="Aptos"/>
                <a:ea typeface="Aptos"/>
                <a:cs typeface="Aptos"/>
              </a:defRPr>
            </a:pPr>
            <a:r>
              <a:rPr sz="1800" b="1">
                <a:solidFill>
                  <a:srgbClr val="2D211A"/>
                </a:solidFill>
                <a:latin typeface="Aptos"/>
                <a:ea typeface="Aptos"/>
                <a:cs typeface="Aptos"/>
              </a:rPr>
              <a:t>Offline asset file</a:t>
            </a:r>
          </a:p>
        </p:txBody>
      </p:sp>
      <p:sp>
        <p:nvSpPr>
          <p:cNvPr id="10" name="Rectangle 9">
            <a:extLst>
              <a:ext uri="{FF2B5EF4-FFF2-40B4-BE49-F238E27FC236}">
                <a16:creationId xmlns:a16="http://schemas.microsoft.com/office/drawing/2014/main" id="{302FDC1B-72E9-4C0C-9799-AE302CCB8ED3}"/>
              </a:ext>
            </a:extLst>
          </p:cNvPr>
          <p:cNvSpPr>
            <a:spLocks noGrp="1"/>
          </p:cNvSpPr>
          <p:nvPr/>
        </p:nvSpPr>
        <p:spPr>
          <a:xfrm>
            <a:off x="5772150" y="2171700"/>
            <a:ext cx="2114550" cy="685800"/>
          </a:xfrm>
          <a:prstGeom prst="rect">
            <a:avLst/>
          </a:prstGeom>
          <a:solidFill>
            <a:srgbClr val="F3E6CF"/>
          </a:solidFill>
          <a:ln w="9525">
            <a:solidFill>
              <a:srgbClr val="000000">
                <a:alpha val="0"/>
              </a:srgbClr>
            </a:solidFill>
            <a:prstDash val="solid"/>
          </a:ln>
        </p:spPr>
      </p:sp>
      <p:sp>
        <p:nvSpPr>
          <p:cNvPr id="11" name="Rectangle 10">
            <a:extLst>
              <a:ext uri="{FF2B5EF4-FFF2-40B4-BE49-F238E27FC236}">
                <a16:creationId xmlns:a16="http://schemas.microsoft.com/office/drawing/2014/main" id="{8E21A2BD-DAB0-4519-8FC5-2F86D4EDCCF9}"/>
              </a:ext>
            </a:extLst>
          </p:cNvPr>
          <p:cNvSpPr>
            <a:spLocks noGrp="1"/>
          </p:cNvSpPr>
          <p:nvPr/>
        </p:nvSpPr>
        <p:spPr>
          <a:xfrm>
            <a:off x="5943600" y="2305050"/>
            <a:ext cx="1714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D211A"/>
                </a:solidFill>
                <a:latin typeface="Aptos Mono"/>
                <a:ea typeface="Aptos Mono"/>
                <a:cs typeface="Aptos Mono"/>
              </a:defRPr>
            </a:pPr>
            <a:r>
              <a:rPr sz="1350" b="1">
                <a:solidFill>
                  <a:srgbClr val="2D211A"/>
                </a:solidFill>
                <a:latin typeface="Aptos Mono"/>
                <a:ea typeface="Aptos Mono"/>
                <a:cs typeface="Aptos Mono"/>
              </a:rPr>
              <a:t>title</a:t>
            </a:r>
          </a:p>
        </p:txBody>
      </p:sp>
      <p:sp>
        <p:nvSpPr>
          <p:cNvPr id="12" name="Rectangle 11">
            <a:extLst>
              <a:ext uri="{FF2B5EF4-FFF2-40B4-BE49-F238E27FC236}">
                <a16:creationId xmlns:a16="http://schemas.microsoft.com/office/drawing/2014/main" id="{F3591561-5EFA-44CB-9EC4-D1E5CC6DFC7C}"/>
              </a:ext>
            </a:extLst>
          </p:cNvPr>
          <p:cNvSpPr>
            <a:spLocks noGrp="1"/>
          </p:cNvSpPr>
          <p:nvPr/>
        </p:nvSpPr>
        <p:spPr>
          <a:xfrm>
            <a:off x="5943600" y="25717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5C4E"/>
                </a:solidFill>
                <a:latin typeface="Aptos"/>
                <a:ea typeface="Aptos"/>
                <a:cs typeface="Aptos"/>
              </a:defRPr>
            </a:pPr>
            <a:r>
              <a:rPr sz="975" b="0">
                <a:solidFill>
                  <a:srgbClr val="6B5C4E"/>
                </a:solidFill>
                <a:latin typeface="Aptos"/>
                <a:ea typeface="Aptos"/>
                <a:cs typeface="Aptos"/>
              </a:rPr>
              <a:t>Poem name</a:t>
            </a:r>
          </a:p>
        </p:txBody>
      </p:sp>
      <p:sp>
        <p:nvSpPr>
          <p:cNvPr id="13" name="Rectangle 12">
            <a:extLst>
              <a:ext uri="{FF2B5EF4-FFF2-40B4-BE49-F238E27FC236}">
                <a16:creationId xmlns:a16="http://schemas.microsoft.com/office/drawing/2014/main" id="{71F1D1D7-AF37-4525-A883-919383E8DC49}"/>
              </a:ext>
            </a:extLst>
          </p:cNvPr>
          <p:cNvSpPr>
            <a:spLocks noGrp="1"/>
          </p:cNvSpPr>
          <p:nvPr/>
        </p:nvSpPr>
        <p:spPr>
          <a:xfrm>
            <a:off x="8248650" y="2171700"/>
            <a:ext cx="2114550" cy="685800"/>
          </a:xfrm>
          <a:prstGeom prst="rect">
            <a:avLst/>
          </a:prstGeom>
          <a:solidFill>
            <a:srgbClr val="E4EFE8"/>
          </a:solidFill>
          <a:ln w="9525">
            <a:solidFill>
              <a:srgbClr val="000000">
                <a:alpha val="0"/>
              </a:srgbClr>
            </a:solidFill>
            <a:prstDash val="solid"/>
          </a:ln>
        </p:spPr>
      </p:sp>
      <p:sp>
        <p:nvSpPr>
          <p:cNvPr id="14" name="Rectangle 13">
            <a:extLst>
              <a:ext uri="{FF2B5EF4-FFF2-40B4-BE49-F238E27FC236}">
                <a16:creationId xmlns:a16="http://schemas.microsoft.com/office/drawing/2014/main" id="{49C35B09-C92B-47A7-B4FB-978A4D6530DF}"/>
              </a:ext>
            </a:extLst>
          </p:cNvPr>
          <p:cNvSpPr>
            <a:spLocks noGrp="1"/>
          </p:cNvSpPr>
          <p:nvPr/>
        </p:nvSpPr>
        <p:spPr>
          <a:xfrm>
            <a:off x="8420100" y="2305050"/>
            <a:ext cx="1714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D211A"/>
                </a:solidFill>
                <a:latin typeface="Aptos Mono"/>
                <a:ea typeface="Aptos Mono"/>
                <a:cs typeface="Aptos Mono"/>
              </a:defRPr>
            </a:pPr>
            <a:r>
              <a:rPr sz="1350" b="1">
                <a:solidFill>
                  <a:srgbClr val="2D211A"/>
                </a:solidFill>
                <a:latin typeface="Aptos Mono"/>
                <a:ea typeface="Aptos Mono"/>
                <a:cs typeface="Aptos Mono"/>
              </a:rPr>
              <a:t>poet</a:t>
            </a:r>
          </a:p>
        </p:txBody>
      </p:sp>
      <p:sp>
        <p:nvSpPr>
          <p:cNvPr id="15" name="Rectangle 14">
            <a:extLst>
              <a:ext uri="{FF2B5EF4-FFF2-40B4-BE49-F238E27FC236}">
                <a16:creationId xmlns:a16="http://schemas.microsoft.com/office/drawing/2014/main" id="{29DED09A-FB01-4D17-B7CD-83D26D97402A}"/>
              </a:ext>
            </a:extLst>
          </p:cNvPr>
          <p:cNvSpPr>
            <a:spLocks noGrp="1"/>
          </p:cNvSpPr>
          <p:nvPr/>
        </p:nvSpPr>
        <p:spPr>
          <a:xfrm>
            <a:off x="8420100" y="25717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5C4E"/>
                </a:solidFill>
                <a:latin typeface="Aptos"/>
                <a:ea typeface="Aptos"/>
                <a:cs typeface="Aptos"/>
              </a:defRPr>
            </a:pPr>
            <a:r>
              <a:rPr sz="975" b="0">
                <a:solidFill>
                  <a:srgbClr val="6B5C4E"/>
                </a:solidFill>
                <a:latin typeface="Aptos"/>
                <a:ea typeface="Aptos"/>
                <a:cs typeface="Aptos"/>
              </a:rPr>
              <a:t>Author/source label</a:t>
            </a:r>
          </a:p>
        </p:txBody>
      </p:sp>
      <p:sp>
        <p:nvSpPr>
          <p:cNvPr id="16" name="Rectangle 15">
            <a:extLst>
              <a:ext uri="{FF2B5EF4-FFF2-40B4-BE49-F238E27FC236}">
                <a16:creationId xmlns:a16="http://schemas.microsoft.com/office/drawing/2014/main" id="{29BE6FCA-B90E-4FAA-BC63-D2D24372F154}"/>
              </a:ext>
            </a:extLst>
          </p:cNvPr>
          <p:cNvSpPr>
            <a:spLocks noGrp="1"/>
          </p:cNvSpPr>
          <p:nvPr/>
        </p:nvSpPr>
        <p:spPr>
          <a:xfrm>
            <a:off x="5772150" y="3162300"/>
            <a:ext cx="2114550" cy="685800"/>
          </a:xfrm>
          <a:prstGeom prst="rect">
            <a:avLst/>
          </a:prstGeom>
          <a:solidFill>
            <a:srgbClr val="E4EEF4"/>
          </a:solidFill>
          <a:ln w="9525">
            <a:solidFill>
              <a:srgbClr val="000000">
                <a:alpha val="0"/>
              </a:srgbClr>
            </a:solidFill>
            <a:prstDash val="solid"/>
          </a:ln>
        </p:spPr>
      </p:sp>
      <p:sp>
        <p:nvSpPr>
          <p:cNvPr id="17" name="Rectangle 16">
            <a:extLst>
              <a:ext uri="{FF2B5EF4-FFF2-40B4-BE49-F238E27FC236}">
                <a16:creationId xmlns:a16="http://schemas.microsoft.com/office/drawing/2014/main" id="{E6B86A63-665B-4A28-8048-B0FDF2634220}"/>
              </a:ext>
            </a:extLst>
          </p:cNvPr>
          <p:cNvSpPr>
            <a:spLocks noGrp="1"/>
          </p:cNvSpPr>
          <p:nvPr/>
        </p:nvSpPr>
        <p:spPr>
          <a:xfrm>
            <a:off x="5943600" y="3295650"/>
            <a:ext cx="1714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D211A"/>
                </a:solidFill>
                <a:latin typeface="Aptos Mono"/>
                <a:ea typeface="Aptos Mono"/>
                <a:cs typeface="Aptos Mono"/>
              </a:defRPr>
            </a:pPr>
            <a:r>
              <a:rPr sz="1350" b="1">
                <a:solidFill>
                  <a:srgbClr val="2D211A"/>
                </a:solidFill>
                <a:latin typeface="Aptos Mono"/>
                <a:ea typeface="Aptos Mono"/>
                <a:cs typeface="Aptos Mono"/>
              </a:rPr>
              <a:t>text</a:t>
            </a:r>
          </a:p>
        </p:txBody>
      </p:sp>
      <p:sp>
        <p:nvSpPr>
          <p:cNvPr id="18" name="Rectangle 17">
            <a:extLst>
              <a:ext uri="{FF2B5EF4-FFF2-40B4-BE49-F238E27FC236}">
                <a16:creationId xmlns:a16="http://schemas.microsoft.com/office/drawing/2014/main" id="{D8E16494-C951-4B5B-96AE-3ED671B818F7}"/>
              </a:ext>
            </a:extLst>
          </p:cNvPr>
          <p:cNvSpPr>
            <a:spLocks noGrp="1"/>
          </p:cNvSpPr>
          <p:nvPr/>
        </p:nvSpPr>
        <p:spPr>
          <a:xfrm>
            <a:off x="5943600" y="35623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5C4E"/>
                </a:solidFill>
                <a:latin typeface="Aptos"/>
                <a:ea typeface="Aptos"/>
                <a:cs typeface="Aptos"/>
              </a:defRPr>
            </a:pPr>
            <a:r>
              <a:rPr sz="975" b="0">
                <a:solidFill>
                  <a:srgbClr val="6B5C4E"/>
                </a:solidFill>
                <a:latin typeface="Aptos"/>
                <a:ea typeface="Aptos"/>
                <a:cs typeface="Aptos"/>
              </a:rPr>
              <a:t>Kannada verse</a:t>
            </a:r>
          </a:p>
        </p:txBody>
      </p:sp>
      <p:sp>
        <p:nvSpPr>
          <p:cNvPr id="19" name="Rectangle 18">
            <a:extLst>
              <a:ext uri="{FF2B5EF4-FFF2-40B4-BE49-F238E27FC236}">
                <a16:creationId xmlns:a16="http://schemas.microsoft.com/office/drawing/2014/main" id="{D23A79A9-A821-4142-B818-F8D8BBC07C77}"/>
              </a:ext>
            </a:extLst>
          </p:cNvPr>
          <p:cNvSpPr>
            <a:spLocks noGrp="1"/>
          </p:cNvSpPr>
          <p:nvPr/>
        </p:nvSpPr>
        <p:spPr>
          <a:xfrm>
            <a:off x="8248650" y="3162300"/>
            <a:ext cx="2114550" cy="685800"/>
          </a:xfrm>
          <a:prstGeom prst="rect">
            <a:avLst/>
          </a:prstGeom>
          <a:solidFill>
            <a:srgbClr val="F3E6CF"/>
          </a:solidFill>
          <a:ln w="9525">
            <a:solidFill>
              <a:srgbClr val="000000">
                <a:alpha val="0"/>
              </a:srgbClr>
            </a:solidFill>
            <a:prstDash val="solid"/>
          </a:ln>
        </p:spPr>
      </p:sp>
      <p:sp>
        <p:nvSpPr>
          <p:cNvPr id="20" name="Rectangle 19">
            <a:extLst>
              <a:ext uri="{FF2B5EF4-FFF2-40B4-BE49-F238E27FC236}">
                <a16:creationId xmlns:a16="http://schemas.microsoft.com/office/drawing/2014/main" id="{AE35AA82-2B3D-46FD-B452-BFC1BD192D0D}"/>
              </a:ext>
            </a:extLst>
          </p:cNvPr>
          <p:cNvSpPr>
            <a:spLocks noGrp="1"/>
          </p:cNvSpPr>
          <p:nvPr/>
        </p:nvSpPr>
        <p:spPr>
          <a:xfrm>
            <a:off x="8420100" y="3295650"/>
            <a:ext cx="1714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D211A"/>
                </a:solidFill>
                <a:latin typeface="Aptos Mono"/>
                <a:ea typeface="Aptos Mono"/>
                <a:cs typeface="Aptos Mono"/>
              </a:defRPr>
            </a:pPr>
            <a:r>
              <a:rPr sz="1350" b="1">
                <a:solidFill>
                  <a:srgbClr val="2D211A"/>
                </a:solidFill>
                <a:latin typeface="Aptos Mono"/>
                <a:ea typeface="Aptos Mono"/>
                <a:cs typeface="Aptos Mono"/>
              </a:rPr>
              <a:t>bhavartha</a:t>
            </a:r>
          </a:p>
        </p:txBody>
      </p:sp>
      <p:sp>
        <p:nvSpPr>
          <p:cNvPr id="21" name="Rectangle 20">
            <a:extLst>
              <a:ext uri="{FF2B5EF4-FFF2-40B4-BE49-F238E27FC236}">
                <a16:creationId xmlns:a16="http://schemas.microsoft.com/office/drawing/2014/main" id="{7072D4C4-C157-4F5C-B049-3ED334039056}"/>
              </a:ext>
            </a:extLst>
          </p:cNvPr>
          <p:cNvSpPr>
            <a:spLocks noGrp="1"/>
          </p:cNvSpPr>
          <p:nvPr/>
        </p:nvSpPr>
        <p:spPr>
          <a:xfrm>
            <a:off x="8420100" y="35623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5C4E"/>
                </a:solidFill>
                <a:latin typeface="Aptos"/>
                <a:ea typeface="Aptos"/>
                <a:cs typeface="Aptos"/>
              </a:defRPr>
            </a:pPr>
            <a:r>
              <a:rPr sz="975" b="0">
                <a:solidFill>
                  <a:srgbClr val="6B5C4E"/>
                </a:solidFill>
                <a:latin typeface="Aptos"/>
                <a:ea typeface="Aptos"/>
                <a:cs typeface="Aptos"/>
              </a:rPr>
              <a:t>Simple explanation</a:t>
            </a:r>
          </a:p>
        </p:txBody>
      </p:sp>
      <p:sp>
        <p:nvSpPr>
          <p:cNvPr id="22" name="Rectangle 21">
            <a:extLst>
              <a:ext uri="{FF2B5EF4-FFF2-40B4-BE49-F238E27FC236}">
                <a16:creationId xmlns:a16="http://schemas.microsoft.com/office/drawing/2014/main" id="{3F89BE70-EE5E-4E2B-AAB0-A34B28969CA3}"/>
              </a:ext>
            </a:extLst>
          </p:cNvPr>
          <p:cNvSpPr>
            <a:spLocks noGrp="1"/>
          </p:cNvSpPr>
          <p:nvPr/>
        </p:nvSpPr>
        <p:spPr>
          <a:xfrm>
            <a:off x="5772150" y="4152900"/>
            <a:ext cx="2114550" cy="685800"/>
          </a:xfrm>
          <a:prstGeom prst="rect">
            <a:avLst/>
          </a:prstGeom>
          <a:solidFill>
            <a:srgbClr val="E4EFE8"/>
          </a:solidFill>
          <a:ln w="9525">
            <a:solidFill>
              <a:srgbClr val="000000">
                <a:alpha val="0"/>
              </a:srgbClr>
            </a:solidFill>
            <a:prstDash val="solid"/>
          </a:ln>
        </p:spPr>
      </p:sp>
      <p:sp>
        <p:nvSpPr>
          <p:cNvPr id="23" name="Rectangle 22">
            <a:extLst>
              <a:ext uri="{FF2B5EF4-FFF2-40B4-BE49-F238E27FC236}">
                <a16:creationId xmlns:a16="http://schemas.microsoft.com/office/drawing/2014/main" id="{984793E7-5326-4FCB-AADD-246333E495E3}"/>
              </a:ext>
            </a:extLst>
          </p:cNvPr>
          <p:cNvSpPr>
            <a:spLocks noGrp="1"/>
          </p:cNvSpPr>
          <p:nvPr/>
        </p:nvSpPr>
        <p:spPr>
          <a:xfrm>
            <a:off x="5943600" y="4286250"/>
            <a:ext cx="1714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D211A"/>
                </a:solidFill>
                <a:latin typeface="Aptos Mono"/>
                <a:ea typeface="Aptos Mono"/>
                <a:cs typeface="Aptos Mono"/>
              </a:defRPr>
            </a:pPr>
            <a:r>
              <a:rPr sz="1350" b="1">
                <a:solidFill>
                  <a:srgbClr val="2D211A"/>
                </a:solidFill>
                <a:latin typeface="Aptos Mono"/>
                <a:ea typeface="Aptos Mono"/>
                <a:cs typeface="Aptos Mono"/>
              </a:rPr>
              <a:t>audioFile</a:t>
            </a:r>
          </a:p>
        </p:txBody>
      </p:sp>
      <p:sp>
        <p:nvSpPr>
          <p:cNvPr id="24" name="Rectangle 23">
            <a:extLst>
              <a:ext uri="{FF2B5EF4-FFF2-40B4-BE49-F238E27FC236}">
                <a16:creationId xmlns:a16="http://schemas.microsoft.com/office/drawing/2014/main" id="{42DB7E36-2766-4163-B343-BFEEE0766442}"/>
              </a:ext>
            </a:extLst>
          </p:cNvPr>
          <p:cNvSpPr>
            <a:spLocks noGrp="1"/>
          </p:cNvSpPr>
          <p:nvPr/>
        </p:nvSpPr>
        <p:spPr>
          <a:xfrm>
            <a:off x="5943600" y="45529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5C4E"/>
                </a:solidFill>
                <a:latin typeface="Aptos"/>
                <a:ea typeface="Aptos"/>
                <a:cs typeface="Aptos"/>
              </a:defRPr>
            </a:pPr>
            <a:r>
              <a:rPr sz="975" b="0">
                <a:solidFill>
                  <a:srgbClr val="6B5C4E"/>
                </a:solidFill>
                <a:latin typeface="Aptos"/>
                <a:ea typeface="Aptos"/>
                <a:cs typeface="Aptos"/>
              </a:rPr>
              <a:t>Optional MP3 path</a:t>
            </a:r>
          </a:p>
        </p:txBody>
      </p:sp>
      <p:sp>
        <p:nvSpPr>
          <p:cNvPr id="25" name="Rectangle 24">
            <a:extLst>
              <a:ext uri="{FF2B5EF4-FFF2-40B4-BE49-F238E27FC236}">
                <a16:creationId xmlns:a16="http://schemas.microsoft.com/office/drawing/2014/main" id="{279B1E6A-EE69-468A-994D-3608D8E54420}"/>
              </a:ext>
            </a:extLst>
          </p:cNvPr>
          <p:cNvSpPr>
            <a:spLocks noGrp="1"/>
          </p:cNvSpPr>
          <p:nvPr/>
        </p:nvSpPr>
        <p:spPr>
          <a:xfrm>
            <a:off x="8248650" y="4152900"/>
            <a:ext cx="2114550" cy="685800"/>
          </a:xfrm>
          <a:prstGeom prst="rect">
            <a:avLst/>
          </a:prstGeom>
          <a:solidFill>
            <a:srgbClr val="E4EEF4"/>
          </a:solidFill>
          <a:ln w="9525">
            <a:solidFill>
              <a:srgbClr val="000000">
                <a:alpha val="0"/>
              </a:srgbClr>
            </a:solidFill>
            <a:prstDash val="solid"/>
          </a:ln>
        </p:spPr>
      </p:sp>
      <p:sp>
        <p:nvSpPr>
          <p:cNvPr id="26" name="Rectangle 25">
            <a:extLst>
              <a:ext uri="{FF2B5EF4-FFF2-40B4-BE49-F238E27FC236}">
                <a16:creationId xmlns:a16="http://schemas.microsoft.com/office/drawing/2014/main" id="{49D05B93-17E0-4891-98DB-F7156638E6D6}"/>
              </a:ext>
            </a:extLst>
          </p:cNvPr>
          <p:cNvSpPr>
            <a:spLocks noGrp="1"/>
          </p:cNvSpPr>
          <p:nvPr/>
        </p:nvSpPr>
        <p:spPr>
          <a:xfrm>
            <a:off x="8420100" y="4286250"/>
            <a:ext cx="1714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D211A"/>
                </a:solidFill>
                <a:latin typeface="Aptos Mono"/>
                <a:ea typeface="Aptos Mono"/>
                <a:cs typeface="Aptos Mono"/>
              </a:defRPr>
            </a:pPr>
            <a:r>
              <a:rPr sz="1350" b="1">
                <a:solidFill>
                  <a:srgbClr val="2D211A"/>
                </a:solidFill>
                <a:latin typeface="Aptos Mono"/>
                <a:ea typeface="Aptos Mono"/>
                <a:cs typeface="Aptos Mono"/>
              </a:rPr>
              <a:t>difficultWords</a:t>
            </a:r>
          </a:p>
        </p:txBody>
      </p:sp>
      <p:sp>
        <p:nvSpPr>
          <p:cNvPr id="27" name="Rectangle 26">
            <a:extLst>
              <a:ext uri="{FF2B5EF4-FFF2-40B4-BE49-F238E27FC236}">
                <a16:creationId xmlns:a16="http://schemas.microsoft.com/office/drawing/2014/main" id="{3C12E55A-321A-4352-9E14-81960EF8E1A4}"/>
              </a:ext>
            </a:extLst>
          </p:cNvPr>
          <p:cNvSpPr>
            <a:spLocks noGrp="1"/>
          </p:cNvSpPr>
          <p:nvPr/>
        </p:nvSpPr>
        <p:spPr>
          <a:xfrm>
            <a:off x="8420100" y="45529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B5C4E"/>
                </a:solidFill>
                <a:latin typeface="Aptos"/>
                <a:ea typeface="Aptos"/>
                <a:cs typeface="Aptos"/>
              </a:defRPr>
            </a:pPr>
            <a:r>
              <a:rPr sz="975" b="0">
                <a:solidFill>
                  <a:srgbClr val="6B5C4E"/>
                </a:solidFill>
                <a:latin typeface="Aptos"/>
                <a:ea typeface="Aptos"/>
                <a:cs typeface="Aptos"/>
              </a:rPr>
              <a:t>Tap-word meanings</a:t>
            </a:r>
          </a:p>
        </p:txBody>
      </p:sp>
      <p:sp>
        <p:nvSpPr>
          <p:cNvPr id="28" name="Rectangle 27">
            <a:extLst>
              <a:ext uri="{FF2B5EF4-FFF2-40B4-BE49-F238E27FC236}">
                <a16:creationId xmlns:a16="http://schemas.microsoft.com/office/drawing/2014/main" id="{E327DF11-8A0F-431C-B390-3AF6CF99F7C9}"/>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29" name="Rectangle 28">
            <a:extLst>
              <a:ext uri="{FF2B5EF4-FFF2-40B4-BE49-F238E27FC236}">
                <a16:creationId xmlns:a16="http://schemas.microsoft.com/office/drawing/2014/main" id="{F26BCB68-88FE-4CD9-8AA6-FB3562E48258}"/>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10</a:t>
            </a:r>
          </a:p>
        </p:txBody>
      </p:sp>
      <p:sp>
        <p:nvSpPr>
          <p:cNvPr id="30" name="Rectangle 29">
            <a:extLst>
              <a:ext uri="{FF2B5EF4-FFF2-40B4-BE49-F238E27FC236}">
                <a16:creationId xmlns:a16="http://schemas.microsoft.com/office/drawing/2014/main" id="{9AEB2A41-4437-4807-B933-1C3A17E43E91}"/>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spTree>
    <p:extLst>
      <p:ext uri="{BB962C8B-B14F-4D97-AF65-F5344CB8AC3E}">
        <p14:creationId xmlns:p14="http://schemas.microsoft.com/office/powerpoint/2010/main" val="81255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AD4D1-FEBF-0F67-2102-E518F0FBA54C}"/>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79CC2DAD-2CEC-6515-8100-37F54085466C}"/>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3B358C72-2BA1-8F7D-A7F1-A83C47C2F778}"/>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562F959F-67A0-4517-C5B8-EE8A5193376C}"/>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28" name="Rectangle 27">
            <a:extLst>
              <a:ext uri="{FF2B5EF4-FFF2-40B4-BE49-F238E27FC236}">
                <a16:creationId xmlns:a16="http://schemas.microsoft.com/office/drawing/2014/main" id="{D537E296-C6AB-AC31-3581-25F9A6D43E1C}"/>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29" name="Rectangle 28">
            <a:extLst>
              <a:ext uri="{FF2B5EF4-FFF2-40B4-BE49-F238E27FC236}">
                <a16:creationId xmlns:a16="http://schemas.microsoft.com/office/drawing/2014/main" id="{429D7EE9-CE12-68F6-9C0E-C2F0D5327DA4}"/>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10</a:t>
            </a:r>
          </a:p>
        </p:txBody>
      </p:sp>
      <p:sp>
        <p:nvSpPr>
          <p:cNvPr id="30" name="Rectangle 29">
            <a:extLst>
              <a:ext uri="{FF2B5EF4-FFF2-40B4-BE49-F238E27FC236}">
                <a16:creationId xmlns:a16="http://schemas.microsoft.com/office/drawing/2014/main" id="{6313FEDD-16D6-B4E4-F04E-C278745C5C1F}"/>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pic>
        <p:nvPicPr>
          <p:cNvPr id="33" name="Picture 32">
            <a:extLst>
              <a:ext uri="{FF2B5EF4-FFF2-40B4-BE49-F238E27FC236}">
                <a16:creationId xmlns:a16="http://schemas.microsoft.com/office/drawing/2014/main" id="{B1F5BF4F-EBF2-73C2-D1E6-90EC55E6AA54}"/>
              </a:ext>
            </a:extLst>
          </p:cNvPr>
          <p:cNvPicPr>
            <a:picLocks noChangeAspect="1"/>
          </p:cNvPicPr>
          <p:nvPr/>
        </p:nvPicPr>
        <p:blipFill>
          <a:blip r:embed="rId3"/>
          <a:stretch>
            <a:fillRect/>
          </a:stretch>
        </p:blipFill>
        <p:spPr>
          <a:xfrm>
            <a:off x="609600" y="508047"/>
            <a:ext cx="2837799" cy="5499007"/>
          </a:xfrm>
          <a:prstGeom prst="rect">
            <a:avLst/>
          </a:prstGeom>
        </p:spPr>
      </p:pic>
      <p:pic>
        <p:nvPicPr>
          <p:cNvPr id="35" name="Picture 34">
            <a:extLst>
              <a:ext uri="{FF2B5EF4-FFF2-40B4-BE49-F238E27FC236}">
                <a16:creationId xmlns:a16="http://schemas.microsoft.com/office/drawing/2014/main" id="{1CB87AE1-31C7-8C67-AF12-B92908B1EA67}"/>
              </a:ext>
            </a:extLst>
          </p:cNvPr>
          <p:cNvPicPr>
            <a:picLocks noChangeAspect="1"/>
          </p:cNvPicPr>
          <p:nvPr/>
        </p:nvPicPr>
        <p:blipFill>
          <a:blip r:embed="rId4"/>
          <a:stretch>
            <a:fillRect/>
          </a:stretch>
        </p:blipFill>
        <p:spPr>
          <a:xfrm>
            <a:off x="4327983" y="508047"/>
            <a:ext cx="2837799" cy="5499007"/>
          </a:xfrm>
          <a:prstGeom prst="rect">
            <a:avLst/>
          </a:prstGeom>
        </p:spPr>
      </p:pic>
      <p:pic>
        <p:nvPicPr>
          <p:cNvPr id="37" name="Picture 36">
            <a:extLst>
              <a:ext uri="{FF2B5EF4-FFF2-40B4-BE49-F238E27FC236}">
                <a16:creationId xmlns:a16="http://schemas.microsoft.com/office/drawing/2014/main" id="{BB64E868-7C86-922A-31BA-0DEE1C5EF269}"/>
              </a:ext>
            </a:extLst>
          </p:cNvPr>
          <p:cNvPicPr>
            <a:picLocks noChangeAspect="1"/>
          </p:cNvPicPr>
          <p:nvPr/>
        </p:nvPicPr>
        <p:blipFill>
          <a:blip r:embed="rId5"/>
          <a:stretch>
            <a:fillRect/>
          </a:stretch>
        </p:blipFill>
        <p:spPr>
          <a:xfrm>
            <a:off x="8423290" y="561721"/>
            <a:ext cx="2837800" cy="5445334"/>
          </a:xfrm>
          <a:prstGeom prst="rect">
            <a:avLst/>
          </a:prstGeom>
        </p:spPr>
      </p:pic>
    </p:spTree>
    <p:extLst>
      <p:ext uri="{BB962C8B-B14F-4D97-AF65-F5344CB8AC3E}">
        <p14:creationId xmlns:p14="http://schemas.microsoft.com/office/powerpoint/2010/main" val="1407761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F0D5114-0DFC-499E-BB61-695F7DF6E29C}"/>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sp>
      <p:sp>
        <p:nvSpPr>
          <p:cNvPr id="2" name="Rectangle 1">
            <a:extLst>
              <a:ext uri="{FF2B5EF4-FFF2-40B4-BE49-F238E27FC236}">
                <a16:creationId xmlns:a16="http://schemas.microsoft.com/office/drawing/2014/main" id="{9DAFBC91-600F-4BAA-AB0F-024E67E5347F}"/>
              </a:ext>
            </a:extLst>
          </p:cNvPr>
          <p:cNvSpPr>
            <a:spLocks noGrp="1"/>
          </p:cNvSpPr>
          <p:nvPr/>
        </p:nvSpPr>
        <p:spPr>
          <a:xfrm>
            <a:off x="0" y="0"/>
            <a:ext cx="171450" cy="6858000"/>
          </a:xfrm>
          <a:prstGeom prst="rect">
            <a:avLst/>
          </a:prstGeom>
          <a:solidFill>
            <a:srgbClr val="8F3E2F"/>
          </a:solidFill>
          <a:ln w="0">
            <a:solidFill>
              <a:srgbClr val="000000">
                <a:alpha val="0"/>
              </a:srgbClr>
            </a:solidFill>
            <a:prstDash val="solid"/>
          </a:ln>
        </p:spPr>
      </p:sp>
      <p:sp>
        <p:nvSpPr>
          <p:cNvPr id="3" name="Rectangle 2">
            <a:extLst>
              <a:ext uri="{FF2B5EF4-FFF2-40B4-BE49-F238E27FC236}">
                <a16:creationId xmlns:a16="http://schemas.microsoft.com/office/drawing/2014/main" id="{58910BA9-AED9-4969-911A-CD8478F84F71}"/>
              </a:ext>
            </a:extLst>
          </p:cNvPr>
          <p:cNvSpPr>
            <a:spLocks noGrp="1"/>
          </p:cNvSpPr>
          <p:nvPr/>
        </p:nvSpPr>
        <p:spPr>
          <a:xfrm>
            <a:off x="171450" y="0"/>
            <a:ext cx="57150" cy="6858000"/>
          </a:xfrm>
          <a:prstGeom prst="rect">
            <a:avLst/>
          </a:prstGeom>
          <a:solidFill>
            <a:srgbClr val="D5A14B"/>
          </a:solidFill>
          <a:ln w="0">
            <a:solidFill>
              <a:srgbClr val="000000">
                <a:alpha val="0"/>
              </a:srgbClr>
            </a:solidFill>
            <a:prstDash val="solid"/>
          </a:ln>
        </p:spPr>
      </p:sp>
      <p:sp>
        <p:nvSpPr>
          <p:cNvPr id="4" name="kicker-marker">
            <a:extLst>
              <a:ext uri="{FF2B5EF4-FFF2-40B4-BE49-F238E27FC236}">
                <a16:creationId xmlns:a16="http://schemas.microsoft.com/office/drawing/2014/main" id="{4006EA0E-91B2-4735-BD7D-BC87731DDF41}"/>
              </a:ext>
            </a:extLst>
          </p:cNvPr>
          <p:cNvSpPr>
            <a:spLocks noGrp="1"/>
          </p:cNvSpPr>
          <p:nvPr/>
        </p:nvSpPr>
        <p:spPr>
          <a:xfrm>
            <a:off x="609600" y="547688"/>
            <a:ext cx="285750" cy="28575"/>
          </a:xfrm>
          <a:prstGeom prst="rect">
            <a:avLst/>
          </a:prstGeom>
          <a:solidFill>
            <a:srgbClr val="D5A14B"/>
          </a:solidFill>
          <a:ln w="0">
            <a:solidFill>
              <a:srgbClr val="000000">
                <a:alpha val="0"/>
              </a:srgbClr>
            </a:solidFill>
            <a:prstDash val="solid"/>
          </a:ln>
        </p:spPr>
      </p:sp>
      <p:sp>
        <p:nvSpPr>
          <p:cNvPr id="5" name="kicker-label">
            <a:extLst>
              <a:ext uri="{FF2B5EF4-FFF2-40B4-BE49-F238E27FC236}">
                <a16:creationId xmlns:a16="http://schemas.microsoft.com/office/drawing/2014/main" id="{3BA2A9FD-C4EE-44EB-84E7-09E8B43B1278}"/>
              </a:ext>
            </a:extLst>
          </p:cNvPr>
          <p:cNvSpPr>
            <a:spLocks noGrp="1"/>
          </p:cNvSpPr>
          <p:nvPr/>
        </p:nvSpPr>
        <p:spPr>
          <a:xfrm>
            <a:off x="1009650" y="4572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8F3E2F"/>
                </a:solidFill>
                <a:latin typeface="Aptos"/>
                <a:ea typeface="Aptos"/>
                <a:cs typeface="Aptos"/>
              </a:defRPr>
            </a:pPr>
            <a:r>
              <a:rPr sz="900" b="1">
                <a:solidFill>
                  <a:srgbClr val="8F3E2F"/>
                </a:solidFill>
                <a:latin typeface="Aptos"/>
                <a:ea typeface="Aptos"/>
                <a:cs typeface="Aptos"/>
              </a:rPr>
              <a:t>DEMO + FUTURE SCOPE</a:t>
            </a:r>
          </a:p>
        </p:txBody>
      </p:sp>
      <p:sp>
        <p:nvSpPr>
          <p:cNvPr id="6" name="Rectangle 5">
            <a:extLst>
              <a:ext uri="{FF2B5EF4-FFF2-40B4-BE49-F238E27FC236}">
                <a16:creationId xmlns:a16="http://schemas.microsoft.com/office/drawing/2014/main" id="{EC35F337-DD92-4D71-8411-6676C8B0B683}"/>
              </a:ext>
            </a:extLst>
          </p:cNvPr>
          <p:cNvSpPr>
            <a:spLocks noGrp="1"/>
          </p:cNvSpPr>
          <p:nvPr/>
        </p:nvSpPr>
        <p:spPr>
          <a:xfrm>
            <a:off x="609600" y="723900"/>
            <a:ext cx="7810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2D211A"/>
                </a:solidFill>
                <a:latin typeface="Aptos Display"/>
                <a:ea typeface="Aptos Display"/>
                <a:cs typeface="Aptos Display"/>
              </a:defRPr>
            </a:pPr>
            <a:r>
              <a:rPr sz="2550" b="1">
                <a:solidFill>
                  <a:srgbClr val="2D211A"/>
                </a:solidFill>
                <a:latin typeface="Aptos Display"/>
                <a:ea typeface="Aptos Display"/>
                <a:cs typeface="Aptos Display"/>
              </a:rPr>
              <a:t>The current build is ready for demo, with clear next improvements.</a:t>
            </a:r>
          </a:p>
        </p:txBody>
      </p:sp>
      <p:sp>
        <p:nvSpPr>
          <p:cNvPr id="7" name="Rectangle 6">
            <a:extLst>
              <a:ext uri="{FF2B5EF4-FFF2-40B4-BE49-F238E27FC236}">
                <a16:creationId xmlns:a16="http://schemas.microsoft.com/office/drawing/2014/main" id="{C4165EDF-387E-45F9-A6C7-64FCC1704D65}"/>
              </a:ext>
            </a:extLst>
          </p:cNvPr>
          <p:cNvSpPr>
            <a:spLocks noGrp="1"/>
          </p:cNvSpPr>
          <p:nvPr/>
        </p:nvSpPr>
        <p:spPr>
          <a:xfrm>
            <a:off x="914400" y="2343150"/>
            <a:ext cx="4476750" cy="2571750"/>
          </a:xfrm>
          <a:prstGeom prst="rect">
            <a:avLst/>
          </a:prstGeom>
          <a:solidFill>
            <a:srgbClr val="FFFDF6"/>
          </a:solidFill>
          <a:ln w="9525">
            <a:solidFill>
              <a:srgbClr val="F3E6CF"/>
            </a:solidFill>
            <a:prstDash val="solid"/>
          </a:ln>
        </p:spPr>
      </p:sp>
      <p:sp>
        <p:nvSpPr>
          <p:cNvPr id="8" name="Rectangle 7">
            <a:extLst>
              <a:ext uri="{FF2B5EF4-FFF2-40B4-BE49-F238E27FC236}">
                <a16:creationId xmlns:a16="http://schemas.microsoft.com/office/drawing/2014/main" id="{75AD1BF3-AA0B-4AEF-BB46-BB901B2F648A}"/>
              </a:ext>
            </a:extLst>
          </p:cNvPr>
          <p:cNvSpPr>
            <a:spLocks noGrp="1"/>
          </p:cNvSpPr>
          <p:nvPr/>
        </p:nvSpPr>
        <p:spPr>
          <a:xfrm>
            <a:off x="1200150" y="264795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336B57"/>
                </a:solidFill>
                <a:latin typeface="Aptos"/>
                <a:ea typeface="Aptos"/>
                <a:cs typeface="Aptos"/>
              </a:defRPr>
            </a:pPr>
            <a:r>
              <a:rPr sz="1800" b="1">
                <a:solidFill>
                  <a:srgbClr val="336B57"/>
                </a:solidFill>
                <a:latin typeface="Aptos"/>
                <a:ea typeface="Aptos"/>
                <a:cs typeface="Aptos"/>
              </a:rPr>
              <a:t>Ready Now</a:t>
            </a:r>
          </a:p>
        </p:txBody>
      </p:sp>
      <p:sp>
        <p:nvSpPr>
          <p:cNvPr id="9" name="Rectangle 8">
            <a:extLst>
              <a:ext uri="{FF2B5EF4-FFF2-40B4-BE49-F238E27FC236}">
                <a16:creationId xmlns:a16="http://schemas.microsoft.com/office/drawing/2014/main" id="{2A7161F6-7979-4200-884F-FDBCE68E1D8A}"/>
              </a:ext>
            </a:extLst>
          </p:cNvPr>
          <p:cNvSpPr>
            <a:spLocks noGrp="1"/>
          </p:cNvSpPr>
          <p:nvPr/>
        </p:nvSpPr>
        <p:spPr>
          <a:xfrm>
            <a:off x="1257300" y="3143250"/>
            <a:ext cx="3238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D211A"/>
                </a:solidFill>
                <a:latin typeface="Aptos"/>
                <a:ea typeface="Aptos"/>
                <a:cs typeface="Aptos"/>
              </a:defRPr>
            </a:pPr>
            <a:r>
              <a:rPr sz="1350" b="0">
                <a:solidFill>
                  <a:srgbClr val="2D211A"/>
                </a:solidFill>
                <a:latin typeface="Aptos"/>
                <a:ea typeface="Aptos"/>
                <a:cs typeface="Aptos"/>
              </a:rPr>
              <a:t>1. 52 local poems</a:t>
            </a:r>
          </a:p>
        </p:txBody>
      </p:sp>
      <p:sp>
        <p:nvSpPr>
          <p:cNvPr id="10" name="Rectangle 9">
            <a:extLst>
              <a:ext uri="{FF2B5EF4-FFF2-40B4-BE49-F238E27FC236}">
                <a16:creationId xmlns:a16="http://schemas.microsoft.com/office/drawing/2014/main" id="{BB9AD36C-2DE5-4E0D-94B7-29D582D2CD7E}"/>
              </a:ext>
            </a:extLst>
          </p:cNvPr>
          <p:cNvSpPr>
            <a:spLocks noGrp="1"/>
          </p:cNvSpPr>
          <p:nvPr/>
        </p:nvSpPr>
        <p:spPr>
          <a:xfrm>
            <a:off x="1257300" y="3467100"/>
            <a:ext cx="3238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D211A"/>
                </a:solidFill>
                <a:latin typeface="Aptos"/>
                <a:ea typeface="Aptos"/>
                <a:cs typeface="Aptos"/>
              </a:defRPr>
            </a:pPr>
            <a:r>
              <a:rPr sz="1350" b="0">
                <a:solidFill>
                  <a:srgbClr val="2D211A"/>
                </a:solidFill>
                <a:latin typeface="Aptos"/>
                <a:ea typeface="Aptos"/>
                <a:cs typeface="Aptos"/>
              </a:rPr>
              <a:t>2. Poem of the Day</a:t>
            </a:r>
          </a:p>
        </p:txBody>
      </p:sp>
      <p:sp>
        <p:nvSpPr>
          <p:cNvPr id="11" name="Rectangle 10">
            <a:extLst>
              <a:ext uri="{FF2B5EF4-FFF2-40B4-BE49-F238E27FC236}">
                <a16:creationId xmlns:a16="http://schemas.microsoft.com/office/drawing/2014/main" id="{9527BBA7-EB50-4D9C-AACC-D13E2DBC7574}"/>
              </a:ext>
            </a:extLst>
          </p:cNvPr>
          <p:cNvSpPr>
            <a:spLocks noGrp="1"/>
          </p:cNvSpPr>
          <p:nvPr/>
        </p:nvSpPr>
        <p:spPr>
          <a:xfrm>
            <a:off x="1257300" y="3790950"/>
            <a:ext cx="3238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D211A"/>
                </a:solidFill>
                <a:latin typeface="Aptos"/>
                <a:ea typeface="Aptos"/>
                <a:cs typeface="Aptos"/>
              </a:defRPr>
            </a:pPr>
            <a:r>
              <a:rPr sz="1350" b="0">
                <a:solidFill>
                  <a:srgbClr val="2D211A"/>
                </a:solidFill>
                <a:latin typeface="Aptos"/>
                <a:ea typeface="Aptos"/>
                <a:cs typeface="Aptos"/>
              </a:rPr>
              <a:t>3. Tappable word meanings</a:t>
            </a:r>
          </a:p>
        </p:txBody>
      </p:sp>
      <p:sp>
        <p:nvSpPr>
          <p:cNvPr id="12" name="Rectangle 11">
            <a:extLst>
              <a:ext uri="{FF2B5EF4-FFF2-40B4-BE49-F238E27FC236}">
                <a16:creationId xmlns:a16="http://schemas.microsoft.com/office/drawing/2014/main" id="{6068E7C0-87A3-4216-8395-1AB5B3EBE1BE}"/>
              </a:ext>
            </a:extLst>
          </p:cNvPr>
          <p:cNvSpPr>
            <a:spLocks noGrp="1"/>
          </p:cNvSpPr>
          <p:nvPr/>
        </p:nvSpPr>
        <p:spPr>
          <a:xfrm>
            <a:off x="1257300" y="4114800"/>
            <a:ext cx="3238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D211A"/>
                </a:solidFill>
                <a:latin typeface="Aptos"/>
                <a:ea typeface="Aptos"/>
                <a:cs typeface="Aptos"/>
              </a:defRPr>
            </a:pPr>
            <a:r>
              <a:rPr sz="1350" b="0">
                <a:solidFill>
                  <a:srgbClr val="2D211A"/>
                </a:solidFill>
                <a:latin typeface="Aptos"/>
                <a:ea typeface="Aptos"/>
                <a:cs typeface="Aptos"/>
              </a:rPr>
              <a:t>4. Bhavartha explanation</a:t>
            </a:r>
          </a:p>
        </p:txBody>
      </p:sp>
      <p:sp>
        <p:nvSpPr>
          <p:cNvPr id="13" name="Rectangle 12">
            <a:extLst>
              <a:ext uri="{FF2B5EF4-FFF2-40B4-BE49-F238E27FC236}">
                <a16:creationId xmlns:a16="http://schemas.microsoft.com/office/drawing/2014/main" id="{9703C206-237B-4ED7-BDC0-DB862614BE1D}"/>
              </a:ext>
            </a:extLst>
          </p:cNvPr>
          <p:cNvSpPr>
            <a:spLocks noGrp="1"/>
          </p:cNvSpPr>
          <p:nvPr/>
        </p:nvSpPr>
        <p:spPr>
          <a:xfrm>
            <a:off x="1257300" y="4438650"/>
            <a:ext cx="3238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D211A"/>
                </a:solidFill>
                <a:latin typeface="Aptos"/>
                <a:ea typeface="Aptos"/>
                <a:cs typeface="Aptos"/>
              </a:defRPr>
            </a:pPr>
            <a:r>
              <a:rPr sz="1350" b="0">
                <a:solidFill>
                  <a:srgbClr val="2D211A"/>
                </a:solidFill>
                <a:latin typeface="Aptos"/>
                <a:ea typeface="Aptos"/>
                <a:cs typeface="Aptos"/>
              </a:rPr>
              <a:t>5. TTS audio fallback</a:t>
            </a:r>
          </a:p>
        </p:txBody>
      </p:sp>
      <p:sp>
        <p:nvSpPr>
          <p:cNvPr id="14" name="Rectangle 13">
            <a:extLst>
              <a:ext uri="{FF2B5EF4-FFF2-40B4-BE49-F238E27FC236}">
                <a16:creationId xmlns:a16="http://schemas.microsoft.com/office/drawing/2014/main" id="{3A1C9A57-2CFE-49F9-A63E-BD9A6051CD07}"/>
              </a:ext>
            </a:extLst>
          </p:cNvPr>
          <p:cNvSpPr>
            <a:spLocks noGrp="1"/>
          </p:cNvSpPr>
          <p:nvPr/>
        </p:nvSpPr>
        <p:spPr>
          <a:xfrm>
            <a:off x="6572250" y="2343150"/>
            <a:ext cx="4476750" cy="2571750"/>
          </a:xfrm>
          <a:prstGeom prst="rect">
            <a:avLst/>
          </a:prstGeom>
          <a:solidFill>
            <a:srgbClr val="FFFDF6"/>
          </a:solidFill>
          <a:ln w="9525">
            <a:solidFill>
              <a:srgbClr val="F3E6CF"/>
            </a:solidFill>
            <a:prstDash val="solid"/>
          </a:ln>
        </p:spPr>
      </p:sp>
      <p:sp>
        <p:nvSpPr>
          <p:cNvPr id="15" name="Rectangle 14">
            <a:extLst>
              <a:ext uri="{FF2B5EF4-FFF2-40B4-BE49-F238E27FC236}">
                <a16:creationId xmlns:a16="http://schemas.microsoft.com/office/drawing/2014/main" id="{1359753F-5241-4D73-8DAE-F6AB9F21547E}"/>
              </a:ext>
            </a:extLst>
          </p:cNvPr>
          <p:cNvSpPr>
            <a:spLocks noGrp="1"/>
          </p:cNvSpPr>
          <p:nvPr/>
        </p:nvSpPr>
        <p:spPr>
          <a:xfrm>
            <a:off x="6858000" y="2647950"/>
            <a:ext cx="2286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8F3E2F"/>
                </a:solidFill>
                <a:latin typeface="Aptos"/>
                <a:ea typeface="Aptos"/>
                <a:cs typeface="Aptos"/>
              </a:defRPr>
            </a:pPr>
            <a:r>
              <a:rPr sz="1800" b="1">
                <a:solidFill>
                  <a:srgbClr val="8F3E2F"/>
                </a:solidFill>
                <a:latin typeface="Aptos"/>
                <a:ea typeface="Aptos"/>
                <a:cs typeface="Aptos"/>
              </a:rPr>
              <a:t>Future Scope</a:t>
            </a:r>
          </a:p>
        </p:txBody>
      </p:sp>
      <p:sp>
        <p:nvSpPr>
          <p:cNvPr id="16" name="Rectangle 15">
            <a:extLst>
              <a:ext uri="{FF2B5EF4-FFF2-40B4-BE49-F238E27FC236}">
                <a16:creationId xmlns:a16="http://schemas.microsoft.com/office/drawing/2014/main" id="{257B5564-E22F-47C6-B112-28DC1F1F3893}"/>
              </a:ext>
            </a:extLst>
          </p:cNvPr>
          <p:cNvSpPr>
            <a:spLocks noGrp="1"/>
          </p:cNvSpPr>
          <p:nvPr/>
        </p:nvSpPr>
        <p:spPr>
          <a:xfrm>
            <a:off x="6915150" y="3143250"/>
            <a:ext cx="3238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D211A"/>
                </a:solidFill>
                <a:latin typeface="Aptos"/>
                <a:ea typeface="Aptos"/>
                <a:cs typeface="Aptos"/>
              </a:defRPr>
            </a:pPr>
            <a:r>
              <a:rPr sz="1350" b="0">
                <a:solidFill>
                  <a:srgbClr val="2D211A"/>
                </a:solidFill>
                <a:latin typeface="Aptos"/>
                <a:ea typeface="Aptos"/>
                <a:cs typeface="Aptos"/>
              </a:rPr>
              <a:t>1. Add real recitation MP3s</a:t>
            </a:r>
          </a:p>
        </p:txBody>
      </p:sp>
      <p:sp>
        <p:nvSpPr>
          <p:cNvPr id="17" name="Rectangle 16">
            <a:extLst>
              <a:ext uri="{FF2B5EF4-FFF2-40B4-BE49-F238E27FC236}">
                <a16:creationId xmlns:a16="http://schemas.microsoft.com/office/drawing/2014/main" id="{FFCC1ABA-7B7C-4F6E-AFC2-F5BFDA5B7833}"/>
              </a:ext>
            </a:extLst>
          </p:cNvPr>
          <p:cNvSpPr>
            <a:spLocks noGrp="1"/>
          </p:cNvSpPr>
          <p:nvPr/>
        </p:nvSpPr>
        <p:spPr>
          <a:xfrm>
            <a:off x="6915150" y="3467100"/>
            <a:ext cx="3238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D211A"/>
                </a:solidFill>
                <a:latin typeface="Aptos"/>
                <a:ea typeface="Aptos"/>
                <a:cs typeface="Aptos"/>
              </a:defRPr>
            </a:pPr>
            <a:r>
              <a:rPr sz="1350" b="0">
                <a:solidFill>
                  <a:srgbClr val="2D211A"/>
                </a:solidFill>
                <a:latin typeface="Aptos"/>
                <a:ea typeface="Aptos"/>
                <a:cs typeface="Aptos"/>
              </a:rPr>
              <a:t>2. Add quiz and streaks</a:t>
            </a:r>
          </a:p>
        </p:txBody>
      </p:sp>
      <p:sp>
        <p:nvSpPr>
          <p:cNvPr id="18" name="Rectangle 17">
            <a:extLst>
              <a:ext uri="{FF2B5EF4-FFF2-40B4-BE49-F238E27FC236}">
                <a16:creationId xmlns:a16="http://schemas.microsoft.com/office/drawing/2014/main" id="{C8B10DD8-9291-4C31-89BD-484CEAC665A9}"/>
              </a:ext>
            </a:extLst>
          </p:cNvPr>
          <p:cNvSpPr>
            <a:spLocks noGrp="1"/>
          </p:cNvSpPr>
          <p:nvPr/>
        </p:nvSpPr>
        <p:spPr>
          <a:xfrm>
            <a:off x="6915150" y="3790950"/>
            <a:ext cx="3238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D211A"/>
                </a:solidFill>
                <a:latin typeface="Aptos"/>
                <a:ea typeface="Aptos"/>
                <a:cs typeface="Aptos"/>
              </a:defRPr>
            </a:pPr>
            <a:r>
              <a:rPr sz="1350" b="0">
                <a:solidFill>
                  <a:srgbClr val="2D211A"/>
                </a:solidFill>
                <a:latin typeface="Aptos"/>
                <a:ea typeface="Aptos"/>
                <a:cs typeface="Aptos"/>
              </a:rPr>
              <a:t>3. Public-domain poem library</a:t>
            </a:r>
          </a:p>
        </p:txBody>
      </p:sp>
      <p:sp>
        <p:nvSpPr>
          <p:cNvPr id="19" name="Rectangle 18">
            <a:extLst>
              <a:ext uri="{FF2B5EF4-FFF2-40B4-BE49-F238E27FC236}">
                <a16:creationId xmlns:a16="http://schemas.microsoft.com/office/drawing/2014/main" id="{98199EA5-8CA3-449B-9D65-7D6DDC5E8F87}"/>
              </a:ext>
            </a:extLst>
          </p:cNvPr>
          <p:cNvSpPr>
            <a:spLocks noGrp="1"/>
          </p:cNvSpPr>
          <p:nvPr/>
        </p:nvSpPr>
        <p:spPr>
          <a:xfrm>
            <a:off x="6915150" y="4114800"/>
            <a:ext cx="3238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D211A"/>
                </a:solidFill>
                <a:latin typeface="Aptos"/>
                <a:ea typeface="Aptos"/>
                <a:cs typeface="Aptos"/>
              </a:defRPr>
            </a:pPr>
            <a:r>
              <a:rPr sz="1350" b="0">
                <a:solidFill>
                  <a:srgbClr val="2D211A"/>
                </a:solidFill>
                <a:latin typeface="Aptos"/>
                <a:ea typeface="Aptos"/>
                <a:cs typeface="Aptos"/>
              </a:rPr>
              <a:t>4. Search by poet or era</a:t>
            </a:r>
          </a:p>
        </p:txBody>
      </p:sp>
      <p:sp>
        <p:nvSpPr>
          <p:cNvPr id="20" name="Rectangle 19">
            <a:extLst>
              <a:ext uri="{FF2B5EF4-FFF2-40B4-BE49-F238E27FC236}">
                <a16:creationId xmlns:a16="http://schemas.microsoft.com/office/drawing/2014/main" id="{27E35676-A83F-42B4-9CD9-47D5519122DC}"/>
              </a:ext>
            </a:extLst>
          </p:cNvPr>
          <p:cNvSpPr>
            <a:spLocks noGrp="1"/>
          </p:cNvSpPr>
          <p:nvPr/>
        </p:nvSpPr>
        <p:spPr>
          <a:xfrm>
            <a:off x="6915150" y="4438650"/>
            <a:ext cx="3238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D211A"/>
                </a:solidFill>
                <a:latin typeface="Aptos"/>
                <a:ea typeface="Aptos"/>
                <a:cs typeface="Aptos"/>
              </a:defRPr>
            </a:pPr>
            <a:r>
              <a:rPr sz="1350" b="0">
                <a:solidFill>
                  <a:srgbClr val="2D211A"/>
                </a:solidFill>
                <a:latin typeface="Aptos"/>
                <a:ea typeface="Aptos"/>
                <a:cs typeface="Aptos"/>
              </a:rPr>
              <a:t>5. Offline favorites</a:t>
            </a:r>
          </a:p>
        </p:txBody>
      </p:sp>
      <p:sp>
        <p:nvSpPr>
          <p:cNvPr id="21" name="Rectangle 20">
            <a:extLst>
              <a:ext uri="{FF2B5EF4-FFF2-40B4-BE49-F238E27FC236}">
                <a16:creationId xmlns:a16="http://schemas.microsoft.com/office/drawing/2014/main" id="{C8998024-56FB-4B7E-89A4-D8E231BD3DD7}"/>
              </a:ext>
            </a:extLst>
          </p:cNvPr>
          <p:cNvSpPr>
            <a:spLocks noGrp="1"/>
          </p:cNvSpPr>
          <p:nvPr/>
        </p:nvSpPr>
        <p:spPr>
          <a:xfrm>
            <a:off x="1581150" y="5467350"/>
            <a:ext cx="8953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2D211A"/>
                </a:solidFill>
                <a:latin typeface="Aptos"/>
                <a:ea typeface="Aptos"/>
                <a:cs typeface="Aptos"/>
              </a:defRPr>
            </a:pPr>
            <a:r>
              <a:rPr sz="1575" b="1">
                <a:solidFill>
                  <a:srgbClr val="2D211A"/>
                </a:solidFill>
                <a:latin typeface="Aptos"/>
                <a:ea typeface="Aptos"/>
                <a:cs typeface="Aptos"/>
              </a:rPr>
              <a:t>Conclusion: Kavya-Kanaja makes Kannada poetry more accessible, emotional, and student-friendly.</a:t>
            </a:r>
          </a:p>
        </p:txBody>
      </p:sp>
      <p:sp>
        <p:nvSpPr>
          <p:cNvPr id="22" name="Rectangle 21">
            <a:extLst>
              <a:ext uri="{FF2B5EF4-FFF2-40B4-BE49-F238E27FC236}">
                <a16:creationId xmlns:a16="http://schemas.microsoft.com/office/drawing/2014/main" id="{A44EE93A-21A7-457D-988F-75C57A8A74B8}"/>
              </a:ext>
            </a:extLst>
          </p:cNvPr>
          <p:cNvSpPr>
            <a:spLocks noGrp="1"/>
          </p:cNvSpPr>
          <p:nvPr/>
        </p:nvSpPr>
        <p:spPr>
          <a:xfrm>
            <a:off x="609600" y="6515100"/>
            <a:ext cx="7239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B5C4E"/>
                </a:solidFill>
                <a:latin typeface="Aptos"/>
                <a:ea typeface="Aptos"/>
                <a:cs typeface="Aptos"/>
              </a:defRPr>
            </a:pPr>
            <a:r>
              <a:rPr sz="900" b="0">
                <a:solidFill>
                  <a:srgbClr val="6B5C4E"/>
                </a:solidFill>
                <a:latin typeface="Aptos"/>
                <a:ea typeface="Aptos"/>
                <a:cs typeface="Aptos"/>
              </a:rPr>
              <a:t>Kavya-Kanaja | Android App Development using GenAI</a:t>
            </a:r>
          </a:p>
        </p:txBody>
      </p:sp>
      <p:sp>
        <p:nvSpPr>
          <p:cNvPr id="23" name="Rectangle 22">
            <a:extLst>
              <a:ext uri="{FF2B5EF4-FFF2-40B4-BE49-F238E27FC236}">
                <a16:creationId xmlns:a16="http://schemas.microsoft.com/office/drawing/2014/main" id="{2F940EFD-5485-4439-A098-0F160DF20E81}"/>
              </a:ext>
            </a:extLst>
          </p:cNvPr>
          <p:cNvSpPr>
            <a:spLocks noGrp="1"/>
          </p:cNvSpPr>
          <p:nvPr/>
        </p:nvSpPr>
        <p:spPr>
          <a:xfrm>
            <a:off x="11068050" y="6457950"/>
            <a:ext cx="45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8F3E2F"/>
                </a:solidFill>
                <a:latin typeface="Aptos"/>
                <a:ea typeface="Aptos"/>
                <a:cs typeface="Aptos"/>
              </a:defRPr>
            </a:pPr>
            <a:r>
              <a:rPr sz="1050" b="1">
                <a:solidFill>
                  <a:srgbClr val="8F3E2F"/>
                </a:solidFill>
                <a:latin typeface="Aptos"/>
                <a:ea typeface="Aptos"/>
                <a:cs typeface="Aptos"/>
              </a:rPr>
              <a:t>12</a:t>
            </a:r>
          </a:p>
        </p:txBody>
      </p:sp>
      <p:sp>
        <p:nvSpPr>
          <p:cNvPr id="24" name="Rectangle 23">
            <a:extLst>
              <a:ext uri="{FF2B5EF4-FFF2-40B4-BE49-F238E27FC236}">
                <a16:creationId xmlns:a16="http://schemas.microsoft.com/office/drawing/2014/main" id="{FA7D41FE-E299-4FB5-9601-B795AC08170B}"/>
              </a:ext>
            </a:extLst>
          </p:cNvPr>
          <p:cNvSpPr>
            <a:spLocks noGrp="1"/>
          </p:cNvSpPr>
          <p:nvPr/>
        </p:nvSpPr>
        <p:spPr>
          <a:xfrm>
            <a:off x="11620500" y="6553200"/>
            <a:ext cx="266700" cy="19050"/>
          </a:xfrm>
          <a:prstGeom prst="rect">
            <a:avLst/>
          </a:prstGeom>
          <a:solidFill>
            <a:srgbClr val="D5A14B"/>
          </a:solidFill>
          <a:ln w="0">
            <a:solidFill>
              <a:srgbClr val="000000">
                <a:alpha val="0"/>
              </a:srgbClr>
            </a:solidFill>
            <a:prstDash val="solid"/>
          </a:ln>
        </p:spPr>
      </p:sp>
    </p:spTree>
    <p:extLst>
      <p:ext uri="{BB962C8B-B14F-4D97-AF65-F5344CB8AC3E}">
        <p14:creationId xmlns:p14="http://schemas.microsoft.com/office/powerpoint/2010/main" val="18021607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TotalTime>
  <Words>931</Words>
  <Application>Microsoft Office PowerPoint</Application>
  <DocSecurity>0</DocSecurity>
  <PresentationFormat>Widescreen</PresentationFormat>
  <Paragraphs>184</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Display</vt:lpstr>
      <vt:lpstr>Aptos Mono</vt:lpstr>
      <vt:lpstr>Arial</vt:lpstr>
      <vt:lpstr>Calibri</vt:lpstr>
      <vt:lpstr>Nirmala UI</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Aysha Nafiya</cp:lastModifiedBy>
  <cp:revision>3</cp:revision>
  <dcterms:created xsi:type="dcterms:W3CDTF">2026-05-06T01:57:15Z</dcterms:created>
  <dcterms:modified xsi:type="dcterms:W3CDTF">2026-05-06T07:56:06Z</dcterms:modified>
</cp:coreProperties>
</file>